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 snapToObjects="1">
      <p:cViewPr varScale="1">
        <p:scale>
          <a:sx n="111" d="100"/>
          <a:sy n="111" d="100"/>
        </p:scale>
        <p:origin x="65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0.png"/><Relationship Id="rId4" Type="http://schemas.openxmlformats.org/officeDocument/2006/relationships/image" Target="../media/image169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1.png"/><Relationship Id="rId4" Type="http://schemas.openxmlformats.org/officeDocument/2006/relationships/image" Target="../media/image18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5.png"/><Relationship Id="rId4" Type="http://schemas.openxmlformats.org/officeDocument/2006/relationships/image" Target="../media/image20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7" Type="http://schemas.openxmlformats.org/officeDocument/2006/relationships/image" Target="../media/image211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5" Type="http://schemas.openxmlformats.org/officeDocument/2006/relationships/image" Target="../media/image209.png"/><Relationship Id="rId4" Type="http://schemas.openxmlformats.org/officeDocument/2006/relationships/image" Target="../media/image20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5.png"/><Relationship Id="rId4" Type="http://schemas.openxmlformats.org/officeDocument/2006/relationships/image" Target="../media/image21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9.png"/><Relationship Id="rId4" Type="http://schemas.openxmlformats.org/officeDocument/2006/relationships/image" Target="../media/image2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1/68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12848"/>
            <a:ext cx="10543032" cy="1371600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4000" b="1">
                <a:solidFill>
                  <a:srgbClr val="1A237E"/>
                </a:solidFill>
                <a:latin typeface="微软雅黑"/>
                <a:ea typeface="微软雅黑"/>
              </a:rPr>
              <a:t>九年级上学期期中考点梳理报告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10543032" cy="548640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（基于 11 份沪教版（五四制）九年级上学期期中试卷逐题分析 · 共 269 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10543032" cy="548640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本资料基于 11 份期中试卷逐题分析整理，聚焦四个问题：考什么、怎么考、怎么错、怎么练。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第一部分　知识体系总览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65328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依据 11 份试卷的实际考查内容，九年级上学期期中知识体系归纳为以下八个板块。各校教材章节编号可能不同，以下按数学逻辑排列，前置关系自上而下：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2079751"/>
                <a:ext cx="11274552" cy="125272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板块一　比例线段与相似图形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——一切相似问题的语言基础。核心：比例的性质（设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法、等比性质）、比例中项（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𝑎𝑐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b^2=ac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⁠）、平行线分线段成比例（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字型、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8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字型）、黄金分割（较长段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=(√(5)-1)/2×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全长）、相似多边形与位似。11 份卷全部考查，选择题、填空题各占约五分之一。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079751"/>
                <a:ext cx="11274552" cy="1252728"/>
              </a:xfrm>
              <a:prstGeom prst="rect">
                <a:avLst/>
              </a:prstGeom>
              <a:blipFill>
                <a:blip r:embed="rId2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57200" y="3716527"/>
            <a:ext cx="11274552" cy="65328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板块二　相似三角形的判定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——两组判定工具：角（两角对应相等，含”一线三等角”）、边角（两边对应成比例且夹角相等；斜边与一条直角边对应成比例的两个直角三角形相似）。判断类选择题几乎每卷一题。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4753863"/>
                <a:ext cx="11274552" cy="102717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板块三　相似三角形的性质与应用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——对应边成比例、对应高/中线/角平分线之比等于相似比、周长比等于相似比、面积比等于相似比的平方；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字型、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8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字型（反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型）、射影模型、旋转（手拉手）模型是四套高频基本图形。解答题前两题的主战场。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753863"/>
                <a:ext cx="11274552" cy="1027176"/>
              </a:xfrm>
              <a:prstGeom prst="rect">
                <a:avLst/>
              </a:prstGeom>
              <a:blipFill>
                <a:blip r:embed="rId3"/>
                <a:stretch>
                  <a:fillRect l="-675" t="-12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第一部分　知识体系总览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板块四　二次函数的概念与表达式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——定义（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𝑏𝑥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y=ax^2+bx+c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≠0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a≠0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⁠，指数为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且系数非零两个条件缺一不可）、三种形式（一般式、顶点式、交点式）与待定系数法。约九成卷考、多为计算题前两题。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706120"/>
              </a:xfrm>
              <a:prstGeom prst="rect">
                <a:avLst/>
              </a:prstGeom>
              <a:blipFill>
                <a:blip r:embed="rId2"/>
                <a:stretch>
                  <a:fillRect l="-675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2132583"/>
                <a:ext cx="11274552" cy="125272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板块五　二次函数的图象与性质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——开口方向、对称轴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x=-b/(2a)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⁠、顶点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𝑎𝑐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(-b/(2a),(4ac-b^2)/(4a))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⁠、增减性、“离对称轴越远函数值越大（小）”的比较法则、平移（左加右减、上加下减）、由图象读系数符号。填空题中段的高频带。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32583"/>
                <a:ext cx="11274552" cy="1252728"/>
              </a:xfrm>
              <a:prstGeom prst="rect">
                <a:avLst/>
              </a:prstGeom>
              <a:blipFill>
                <a:blip r:embed="rId3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3769359"/>
                <a:ext cx="11274552" cy="125272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板块六　二次函数与方程、不等式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——抛物线与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轴交点横坐标即方程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𝑏𝑥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ax^2+bx+c=0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的根；判别式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Δ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Δ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定交点个数；根与系数关系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x_1+x_2=-b/a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x_1x_2=c/a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算弦长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−4</m:t>
                            </m:r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|x_1-x_2|=√((x_1+x_2)^2-4x_1x_2)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⁠；图象法解不等式；恒成立问题转化为判别式。填空压轴的常客。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769359"/>
                <a:ext cx="11274552" cy="1252728"/>
              </a:xfrm>
              <a:prstGeom prst="rect">
                <a:avLst/>
              </a:prstGeom>
              <a:blipFill>
                <a:blip r:embed="rId4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第一部分　知识体系总览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65328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板块七　二次函数综合与应用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——销售利润类最值（自变量范围约束下取最值）、抛物线拱桥类实际建模、抛物线与几何图形结合的存在性/动点/面积压轴。11 份卷的最后一题全部落在此处或旋转相似探究。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2079751"/>
                <a:ext cx="11274552" cy="102717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板块八　锐角三角比与解直角三角形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——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sinα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cosα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tanα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的定义、特殊角三角函数值、仰角俯角与坡度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i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（坡度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=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竖直高度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: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水平宽度）。3 份新题型卷（范围含第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27∼29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27∼29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章）将其列为固定板块，每卷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6∼8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6∼8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题；其余卷中也零星出现与相似结合的求值题。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079751"/>
                <a:ext cx="11274552" cy="1027176"/>
              </a:xfrm>
              <a:prstGeom prst="rect">
                <a:avLst/>
              </a:prstGeom>
              <a:blipFill>
                <a:blip r:embed="rId2"/>
                <a:stretch>
                  <a:fillRect l="-675" t="-12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2.1　题型分布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5/68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11 卷共 62 道选择题，高频考法统计如下：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457200" y="1510791"/>
              <a:ext cx="11274550" cy="22980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998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4665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92794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9199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题型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出现次数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典型考法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对应知识板块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比例线段与黄金分割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约 14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设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求分式值、黄金分割求线段、比例尺、比例中项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比例线段与相似图形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相似判定辨析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约 15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命题正误判断、相似图形识别、位似图形识别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相似三角形的判定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二次函数概念识别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约 9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判断是否二次函数、由定义求参数（舍根）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二次函数的概念与表达式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抛物线顶点与图象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约 13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顶点坐标、开口方向定图象、平移、系数符号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二次函数的图象与性质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图象上点比较大小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约 6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三点纵坐标比较（离对称轴距离法）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二次函数的图象与性质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锐角三角比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约 6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定义、特殊角求值、构造求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sSup>
                                <m:s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22.5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∘</m:t>
                                  </m:r>
                                </m:sup>
                              </m:sSup>
                            </m:oMath>
                          </a14:m>
                          <a:endParaRPr lang="zh-CN" sz="1200">
                            <a:solidFill>
                              <a:srgbClr val="1A2230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锐角三角比与解直角三角形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多结论组合判读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 题/卷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五个结论选正确的个数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二次函数的图象与性质、二次函数与方程不等式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457200" y="1510791"/>
              <a:ext cx="11274550" cy="22980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998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4665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92794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9199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题型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出现次数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典型考法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对应知识板块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610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比例线段与黄金分割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约 14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49485" t="-91667" r="-79897" b="-5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比例线段与相似图形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相似判定辨析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约 15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命题正误判断、相似图形识别、位似图形识别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相似三角形的判定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二次函数概念识别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约 9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判断是否二次函数、由定义求参数（舍根）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二次函数的概念与表达式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抛物线顶点与图象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约 13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顶点坐标、开口方向定图象、平移、系数符号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二次函数的图象与性质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图象上点比较大小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约 6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三点纵坐标比较（离对称轴距离法）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二次函数的图象与性质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089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锐角三角比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约 6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49485" t="-540000" r="-79897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锐角三角比与解直角三角形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多结论组合判读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 题/卷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五个结论选正确的个数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二次函数的图象与性质、二次函数与方程不等式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2.2　相似判定命题辨析——代表题：学易金卷 第 1 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6/68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典型原题（学易金卷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 1 题）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：下列命题正确的是（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55927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A. 两个矩形相似        B. 两个等腰直角三角形相似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9439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C. 两个菱形相似        D. 有一对角相等的两个等腰三角形相似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78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06191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干扰项拆解：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274567"/>
          <a:ext cx="11274550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3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4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0416">
                <a:tc>
                  <a:txBody>
                    <a:bodyPr/>
                    <a:lstStyle/>
                    <a:p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选项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是否正确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对应判断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错误思路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识别方法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矩形对应边不一定成比例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以为”形状相同”就相似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相似必须角与边同时达标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B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对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两角相等＋两边成比例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——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等腰直角三角形形状唯一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菱形对应角不一定相等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只看边成比例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边成比例还得角相等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D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错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相等的角若是顶角与底角则不相似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忽略”哪一对角”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等腰三角形分顶角、底角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185663"/>
            <a:ext cx="11274552" cy="94792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解题策略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：判断相似命题抓两个关键词——“对应角相等”与”对应边成比例”缺一不可；涉及等腰、等边三角形时先分清顶角/底角。此题四个选项在 11 卷中反复出现（自编测试卷、检测卷、自测卷均有同款），属于”送分但必拿稳”题。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2.3　二次函数概念识别——代表题：金考仿真卷 第 2 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7/68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典型原题（金考仿真卷</a:t>
                </a:r>
                <a:r>
                  <a:rPr lang="zh-CN" sz="1600" b="1">
                    <a:solidFill>
                      <a:srgbClr val="1A2230"/>
                    </a:solidFill>
                    <a:latin typeface="微软雅黑"/>
                    <a:ea typeface="微软雅黑"/>
                  </a:rPr>
                  <a:t> </a:t>
                </a: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第 2 题）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：下列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关于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的函数中，是二次函数的是（　）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385064"/>
              </a:xfrm>
              <a:prstGeom prst="rect">
                <a:avLst/>
              </a:prstGeom>
              <a:blipFill>
                <a:blip r:embed="rId2"/>
                <a:stretch>
                  <a:fillRect l="-675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82343"/>
                <a:ext cx="11274552" cy="46024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A.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y=1/(x^2)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               B.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y=2x</a:t>
                    </a:r>
                  </mc:Fallback>
                </mc:AlternateContent>
                <a:endParaRPr lang="zh-CN" sz="1600">
                  <a:solidFill>
                    <a:srgbClr val="1A2230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82343"/>
                <a:ext cx="11274552" cy="460248"/>
              </a:xfrm>
              <a:prstGeom prst="rect">
                <a:avLst/>
              </a:prstGeom>
              <a:blipFill>
                <a:blip r:embed="rId3"/>
                <a:stretch>
                  <a:fillRect l="-675" b="-131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1997455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C.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=3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y=3x^2-1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               D.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y=(x-1)^2-x^2</a:t>
                    </a:r>
                  </mc:Fallback>
                </mc:AlternateContent>
                <a:endParaRPr lang="zh-CN" sz="1600">
                  <a:solidFill>
                    <a:srgbClr val="1A2230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97455"/>
                <a:ext cx="11274552" cy="385064"/>
              </a:xfrm>
              <a:prstGeom prst="rect">
                <a:avLst/>
              </a:prstGeom>
              <a:blipFill>
                <a:blip r:embed="rId4"/>
                <a:stretch>
                  <a:fillRect l="-675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57200" y="2492247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2960623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干扰项拆解：A 含分式，不是整式；B 是一次函数；D 化简后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y=-2x+1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⁠，是一次函数——“先化简再判断”是 D 的陷阱所在。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960623"/>
                <a:ext cx="11274552" cy="706120"/>
              </a:xfrm>
              <a:prstGeom prst="rect">
                <a:avLst/>
              </a:prstGeom>
              <a:blipFill>
                <a:blip r:embed="rId5"/>
                <a:stretch>
                  <a:fillRect l="-675" t="-1786" b="-17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57200" y="3776471"/>
                <a:ext cx="11274552" cy="1348232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解题策略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：二次函数识别三步——右边是否整式（排除 A）；化简后再看最高次数（排除 B、D）；确认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x^2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的系数不为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⁠。由定义求参数的题（如 金考仿真卷 第 1 题：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=(3−2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−7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y=(3-2m)x^(m^2-7)-x+1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的图象是开口向上的抛物线）要同时解”指数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=2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“与”系数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&gt;0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“：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−7=2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m^2-7=2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=±3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m=±3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⁠，又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3−2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3-2m&gt;0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舍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m=3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⁠，故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m=-3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⁠。两条件缺一，这是概念题唯一的失分点。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776471"/>
                <a:ext cx="11274552" cy="1348232"/>
              </a:xfrm>
              <a:prstGeom prst="rect">
                <a:avLst/>
              </a:prstGeom>
              <a:blipFill>
                <a:blip r:embed="rId6"/>
                <a:stretch>
                  <a:fillRect l="-675" b="-37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2.4　抛物线上三点比较大小——代表题：新题型模拟卷 第 1 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8/68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典型原题（新题型模拟卷</a:t>
                </a:r>
                <a:r>
                  <a:rPr lang="zh-CN" sz="1600" b="1">
                    <a:solidFill>
                      <a:srgbClr val="1A2230"/>
                    </a:solidFill>
                    <a:latin typeface="微软雅黑"/>
                    <a:ea typeface="微软雅黑"/>
                  </a:rPr>
                  <a:t> </a:t>
                </a: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第 1 题）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：已知点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(−2,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(-2,y_1)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(1,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(1,y_2)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(3,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(3,y_3)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都在抛物线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y=(x+1)^2-3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上，则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y_1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y_2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y_3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大小关系为（　）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706120"/>
              </a:xfrm>
              <a:prstGeom prst="rect">
                <a:avLst/>
              </a:prstGeom>
              <a:blipFill>
                <a:blip r:embed="rId2"/>
                <a:stretch>
                  <a:fillRect l="-675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803399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A.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y_1&lt;y_2&lt;y_3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　　B.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y_2&lt;y_1&lt;y_3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　　C.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y_2&lt;y_3&lt;y_1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　　D.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y_3&lt;y_1&lt;y_2</a:t>
                    </a:r>
                  </mc:Fallback>
                </mc:AlternateContent>
                <a:endParaRPr lang="zh-CN" sz="1600">
                  <a:solidFill>
                    <a:srgbClr val="1A2230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03399"/>
                <a:ext cx="11274552" cy="706120"/>
              </a:xfrm>
              <a:prstGeom prst="rect">
                <a:avLst/>
              </a:prstGeom>
              <a:blipFill>
                <a:blip r:embed="rId3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57200" y="2619247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3087623"/>
                <a:ext cx="11274552" cy="1348232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解题策略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：对称轴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x=-1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⁠，开口向上，离对称轴越远函数值越大。三点到对称轴距离分别为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|−2−(−1)|=1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|-2-(-1)|=1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|1−(−1)|=2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|1-(-1)|=2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|3−(−1)|=4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|3-(-1)|=4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⁠，距离越大值越大，得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y_1&lt;y_2&lt;y_3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⁠。此考法在 11 卷中出现 10 次（含按表格数值判断对称轴的变式），开口向下时不等号反向，是唯一需要小心的地方。学易金卷 第 3 题同法。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087623"/>
                <a:ext cx="11274552" cy="1348232"/>
              </a:xfrm>
              <a:prstGeom prst="rect">
                <a:avLst/>
              </a:prstGeom>
              <a:blipFill>
                <a:blip r:embed="rId4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2.5　系数符号多结论判读——代表题：自编测试二 第 14 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9/68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2045207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典型原题（自编测试二</a:t>
                </a:r>
                <a:r>
                  <a:rPr lang="zh-CN" sz="1600" b="1">
                    <a:solidFill>
                      <a:srgbClr val="1A2230"/>
                    </a:solidFill>
                    <a:latin typeface="微软雅黑"/>
                    <a:ea typeface="微软雅黑"/>
                  </a:rPr>
                  <a:t> </a:t>
                </a: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第 14 题）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：如图，已知二次函数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𝑏𝑥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⁠）的图象与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轴交于点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  <m:r>
                      <a:rPr>
                        <a:latin typeface="Cambria Math" panose="02040503050406030204" pitchFamily="18" charset="0"/>
                      </a:rPr>
                      <m:t>(−1,0)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轴的交点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(0,−2)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和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(0,−1)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之间（不包括这两点），对称轴为直线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⁠。下列结论：①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𝑎𝑏𝑐</m:t>
                    </m:r>
                    <m:r>
                      <a:rPr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⁠；②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4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+2</m:t>
                    </m:r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  <m:r>
                      <a:rPr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⁠；③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4</m:t>
                    </m:r>
                    <m:r>
                      <a:rPr>
                        <a:latin typeface="Cambria Math" panose="02040503050406030204" pitchFamily="18" charset="0"/>
                      </a:rPr>
                      <m:t>𝑎𝑐</m:t>
                    </m:r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&lt;−4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⁠；④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&lt;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⁠；⑤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  <m:r>
                      <a:rPr>
                        <a:latin typeface="Cambria Math" panose="02040503050406030204" pitchFamily="18" charset="0"/>
                      </a:rPr>
                      <m:t>&gt;</m:t>
                    </m:r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⁠。其中正确结论有______（填写所有正确结论的序号）。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2045207"/>
              </a:xfrm>
              <a:prstGeom prst="rect">
                <a:avLst/>
              </a:prstGeom>
              <a:blipFill>
                <a:blip r:embed="rId2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166" y="2217955"/>
            <a:ext cx="3076619" cy="29301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5148070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自编测试二 第 14 题题图（抛物线、对称轴与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两点位置）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148070"/>
                <a:ext cx="11274552" cy="385064"/>
              </a:xfrm>
              <a:prstGeom prst="rect">
                <a:avLst/>
              </a:prstGeom>
              <a:blipFill>
                <a:blip r:embed="rId4"/>
                <a:stretch>
                  <a:fillRect l="-675" t="-3226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2.5　系数符号多结论判读——代表题：自编测试二 第 14 题（续）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10/68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答案：①③⑤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510791"/>
                <a:ext cx="11274552" cy="323392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解题策略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：桥梁是”对称轴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x=1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“——先由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-b/(2a)=1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b=-2a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⁠，再由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(−1,0)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A(-1,0)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代入得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a-b+c=0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即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=−3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c=-3a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⁠，最后由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的位置得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−2&lt;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&lt;−1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-2&lt;c&lt;-1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⁠，即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1/3&lt;a&lt;2/3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⁠。四条信息备齐后逐条”翻译”：①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𝑎𝑏𝑐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⋅(−2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)⋅(−3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)=6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abc=a⋅(-2a)⋅(-3a)=6a^3&gt;0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成立；②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4a+2b+c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恰是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x=2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时的函数值，由对称性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(2)=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(0)=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&lt;0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y(2)=y(0)=c&lt;0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⁠，不成立；③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𝑎𝑐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&lt;−4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4ac-b^2&lt;-4a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等价于顶点纵坐标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𝑎𝑐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&lt;−1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(4ac-b^2)/(4a)&lt;-1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⁠，而顶点纵坐标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(1)=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=−4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&lt;−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&lt;−1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y(1)=a+b+c=-4a&lt;-4/3&lt;-1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⁠，成立；④实际范围是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1/3&lt;a&lt;2/3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⁠，“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1/2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”不具有必然性，不成立；⑤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b-c=-2a+3a=a&gt;0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⁠，成立。</a:t>
                </a:r>
                <a:r>
                  <a:rPr lang="zh-CN" sz="1600" b="1">
                    <a:solidFill>
                      <a:srgbClr val="1A2230"/>
                    </a:solidFill>
                    <a:latin typeface="微软雅黑"/>
                    <a:ea typeface="微软雅黑"/>
                  </a:rPr>
                  <a:t>凡含”区间型”结论（如④）必须警惕”不必然”陷阱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；金考仿真卷 第 18 题与之同构。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510791"/>
                <a:ext cx="11274552" cy="3233928"/>
              </a:xfrm>
              <a:prstGeom prst="rect">
                <a:avLst/>
              </a:prstGeom>
              <a:blipFill>
                <a:blip r:embed="rId2"/>
                <a:stretch>
                  <a:fillRect l="-675" r="-3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2.6　黄金分割求线段——代表题：新题型模拟卷 第 4 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11/68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典型原题（新题型模拟卷</a:t>
                </a:r>
                <a:r>
                  <a:rPr lang="zh-CN" sz="1600" b="1">
                    <a:solidFill>
                      <a:srgbClr val="1A2230"/>
                    </a:solidFill>
                    <a:latin typeface="微软雅黑"/>
                    <a:ea typeface="微软雅黑"/>
                  </a:rPr>
                  <a:t> </a:t>
                </a: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第 4 题）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：已知线段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AB=2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是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的黄金分割点（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AC&gt;BC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⁠），则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的长为（　）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706120"/>
              </a:xfrm>
              <a:prstGeom prst="rect">
                <a:avLst/>
              </a:prstGeom>
              <a:blipFill>
                <a:blip r:embed="rId2"/>
                <a:stretch>
                  <a:fillRect l="-675" t="-17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803399"/>
                <a:ext cx="11274552" cy="46024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A. </a:t>
                </a:r>
                <mc:AlternateContent>
                  <mc:Choice Requires="a14">
                    <a14:m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√(5)-1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　　B.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3−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3-√(5)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　　C. </a:t>
                </a:r>
                <mc:AlternateContent>
                  <mc:Choice Requires="a14">
                    <a14:m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√(5)+1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　　D.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3−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3-(√(5))/2</a:t>
                    </a:r>
                  </mc:Fallback>
                </mc:AlternateContent>
                <a:endParaRPr lang="zh-CN" sz="1600">
                  <a:solidFill>
                    <a:srgbClr val="1A2230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03399"/>
                <a:ext cx="11274552" cy="460248"/>
              </a:xfrm>
              <a:prstGeom prst="rect">
                <a:avLst/>
              </a:prstGeom>
              <a:blipFill>
                <a:blip r:embed="rId3"/>
                <a:stretch>
                  <a:fillRect l="-675" b="-216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373375"/>
                <a:ext cx="11274552" cy="46024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答案：B（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=2−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=3−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BC=AB-AC=2-(√(5)-1)=3-√(5)</a:t>
                    </a:r>
                  </mc:Fallback>
                </mc:AlternateContent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⁠）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373375"/>
                <a:ext cx="11274552" cy="460248"/>
              </a:xfrm>
              <a:prstGeom prst="rect">
                <a:avLst/>
              </a:prstGeom>
              <a:blipFill>
                <a:blip r:embed="rId4"/>
                <a:stretch>
                  <a:fillRect l="-675"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2943351"/>
                <a:ext cx="11274552" cy="125272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解题策略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：记住两个数——较长段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≈0.618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=(√(5)-1)/2⋅AB≈0.618AB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⁠，较短段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3−</m:t>
                            </m:r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≈0.382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=(3-√(5))/2⋅AB≈0.382AB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⁠。金考仿真卷 第 4 题（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=8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AC=8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⁠，求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的表达式）与 金考模拟卷 第 10 题（海螺壳背景的同法再现）均为此型；而 金考仿真卷 第 12 题把两个黄金分割点放同一条线段上，答案出现两解，见第三部分 3.2。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943351"/>
                <a:ext cx="11274552" cy="1252728"/>
              </a:xfrm>
              <a:prstGeom prst="rect">
                <a:avLst/>
              </a:prstGeom>
              <a:blipFill>
                <a:blip r:embed="rId5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2.7　解题策略适用性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12/68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65328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定义判断题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：直接对照定义逐项排除（二次函数识别、相似判定命题），不引入技巧；易错点是”隐藏条件”（系数非零、角是否夹角）。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805431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 marL="342900" indent="-342900">
                  <a:lnSpc>
                    <a:spcPct val="115000"/>
                  </a:lnSpc>
                  <a:spcAft>
                    <a:spcPts val="300"/>
                  </a:spcAft>
                  <a:buFont typeface="Arial"/>
                  <a:buChar char="•"/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设</a:t>
                </a:r>
                <a:r>
                  <a:rPr lang="zh-CN" sz="1600" b="1">
                    <a:solidFill>
                      <a:srgbClr val="1A2230"/>
                    </a:solidFill>
                    <a:latin typeface="微软雅黑"/>
                    <a:ea typeface="微软雅黑"/>
                  </a:rPr>
                  <a:t>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</a:t>
                    </a:r>
                  </mc:Fallback>
                </mc:AlternateContent>
                <a:r>
                  <a:rPr lang="zh-CN" sz="1600" b="1">
                    <a:solidFill>
                      <a:srgbClr val="1A2230"/>
                    </a:solidFill>
                    <a:latin typeface="微软雅黑"/>
                    <a:ea typeface="微软雅黑"/>
                  </a:rPr>
                  <a:t> </a:t>
                </a: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法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：见比例式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=2:3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a:b=2:3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时设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a=2k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=3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b=3k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⁠，代入目标分式消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⁠；适用于一切”已知比值求分式”的选择填空，注意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≠0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k≠0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05431"/>
                <a:ext cx="11274552" cy="706120"/>
              </a:xfrm>
              <a:prstGeom prst="rect">
                <a:avLst/>
              </a:prstGeom>
              <a:blipFill>
                <a:blip r:embed="rId2"/>
                <a:stretch>
                  <a:fillRect l="-562" t="-1786" r="-2362"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57200" y="2621279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离轴比较法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：抛物线上比大小不代数计算，改算”到对称轴的距离”；开口向上越大越远、开口向下越大越近。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3089655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 marL="342900" indent="-342900">
                  <a:lnSpc>
                    <a:spcPct val="115000"/>
                  </a:lnSpc>
                  <a:spcAft>
                    <a:spcPts val="300"/>
                  </a:spcAft>
                  <a:buFont typeface="Arial"/>
                  <a:buChar char="•"/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特殊值代入法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：多结论判读中对”恒成立”类结论可取特殊点快速否定（如取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x=2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算函数值），但不能用特殊值”证明”结论成立。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089655"/>
                <a:ext cx="11274552" cy="706120"/>
              </a:xfrm>
              <a:prstGeom prst="rect">
                <a:avLst/>
              </a:prstGeom>
              <a:blipFill>
                <a:blip r:embed="rId3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57200" y="3905503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排除法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：命题辨析题中”两个矩形相似”“两个菱形相似”类选项一旦确认错误即可排除，无需逐项推导。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73879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数形结合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：系数符号判读、图象法解不等式必须回到图象：开口、对称轴、交点三要素定全局。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3.1　题型分布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13/68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11 卷共 130 道填空题，高频类型如下：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457200" y="1510791"/>
              <a:ext cx="11274551" cy="23159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4224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898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424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类型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出现试卷（题号示例）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典型考法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比例线段与黄金分割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全部 11 卷（新题型模拟卷-12、金考仿真卷-10、自测卷二-11）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设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求值、黄金分割、比例尺、比例中项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相似判定与性质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全部 11 卷（金考仿真卷-16、巩固培优卷-16）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字/8 字求线段、面积比、相似多边形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二次函数图象与性质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11 卷（自测卷二-13、模拟卷三-6）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表格定对称轴、三点比较、平移、系数符号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锐角三角比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6 卷（期中自测卷二-15、金考仿真卷-14）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特殊角求值、网格求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⁠、仰角测高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二次函数与方程不等式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11 卷（金考模拟卷-15、18）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判别式定交点、韦达算弦长、翻折后公共点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二次函数综合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11 卷末题（学易金卷-17）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根与系数＋几何条件、新定义函数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位似与作图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6 卷（学易金卷-19、模拟卷四-21）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网格位似作图、求位似中心与位似比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457200" y="1510791"/>
              <a:ext cx="11274551" cy="23159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4224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898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424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类型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出现试卷（题号示例）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典型考法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610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比例线段与黄金分割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全部 11 卷（新题型模拟卷-12、金考仿真卷-10、自测卷二-11）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185852" t="-91667" r="-322" b="-59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610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相似判定与性质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全部 11 卷（金考仿真卷-16、巩固培优卷-16）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185852" t="-184000" r="-322" b="-46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二次函数图象与性质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11 卷（自测卷二-13、模拟卷三-6）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表格定对称轴、三点比较、平移、系数符号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4610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锐角三角比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6 卷（期中自测卷二-15、金考仿真卷-14）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185852" t="-387500" r="-322" b="-29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二次函数与方程不等式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11 卷（金考模拟卷-15、18）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判别式定交点、韦达算弦长、翻折后公共点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二次函数综合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11 卷末题（学易金卷-17）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根与系数＋几何条件、新定义函数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位似与作图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6 卷（学易金卷-19、模拟卷四-21）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网格位似作图、求位似中心与位似比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3.2　具体考点与代表题拆解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14/68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29184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（1）平行线分线段成比例求线段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——代表题：金考仿真卷 第 11 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26463"/>
                <a:ext cx="11274552" cy="64190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如图，在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中，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分别为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边上的点，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𝐷𝐸</m:t>
                    </m:r>
                    <m:r>
                      <a:rPr>
                        <a:latin typeface="Cambria Math" panose="02040503050406030204" pitchFamily="18" charset="0"/>
                      </a:rPr>
                      <m:t>∥</m:t>
                    </m:r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  <m:r>
                      <a:rPr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𝐷𝐵</m:t>
                    </m:r>
                    <m:r>
                      <a:rPr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𝐷𝐸</m:t>
                    </m:r>
                    <m:r>
                      <a:rPr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⁠，则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______。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26463"/>
                <a:ext cx="11274552" cy="641908"/>
              </a:xfrm>
              <a:prstGeom prst="rect">
                <a:avLst/>
              </a:prstGeom>
              <a:blipFill>
                <a:blip r:embed="rId2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150" y="1823794"/>
            <a:ext cx="2398122" cy="26496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4189779"/>
                <a:ext cx="11274552" cy="35295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金考仿真卷 第 11 题题图（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字型基本图形）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189779"/>
                <a:ext cx="11274552" cy="352958"/>
              </a:xfrm>
              <a:prstGeom prst="rect">
                <a:avLst/>
              </a:prstGeom>
              <a:blipFill>
                <a:blip r:embed="rId4"/>
                <a:stretch>
                  <a:fillRect l="-562" b="-137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4652465"/>
                <a:ext cx="11274552" cy="420623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44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zh-CN" sz="144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652465"/>
                <a:ext cx="11274552" cy="420623"/>
              </a:xfrm>
              <a:prstGeom prst="rect">
                <a:avLst/>
              </a:prstGeom>
              <a:blipFill>
                <a:blip r:embed="rId5"/>
                <a:stretch>
                  <a:fillRect l="-562" b="-264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57200" y="5182816"/>
                <a:ext cx="11274552" cy="420623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𝐴𝐷𝐸</m:t>
                    </m:r>
                    <m:r>
                      <a:rPr>
                        <a:latin typeface="Cambria Math" panose="02040503050406030204" pitchFamily="18" charset="0"/>
                      </a:rPr>
                      <m:t>∽△</m:t>
                    </m:r>
                    <m:r>
                      <a:rPr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𝐴𝐷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𝐷𝐸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</m:den>
                    </m:f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⁠，即 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</m:den>
                    </m:f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⁠，得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182816"/>
                <a:ext cx="11274552" cy="420623"/>
              </a:xfrm>
              <a:prstGeom prst="rect">
                <a:avLst/>
              </a:prstGeom>
              <a:blipFill>
                <a:blip r:embed="rId6"/>
                <a:stretch>
                  <a:fillRect l="-562" b="-264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57200" y="5713167"/>
                <a:ext cx="11274552" cy="35295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易错点：用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  <m:r>
                      <a:rPr>
                        <a:latin typeface="Cambria Math" panose="02040503050406030204" pitchFamily="18" charset="0"/>
                      </a:rPr>
                      <m:t>:</m:t>
                    </m:r>
                    <m:r>
                      <a:rPr>
                        <a:latin typeface="Cambria Math" panose="02040503050406030204" pitchFamily="18" charset="0"/>
                      </a:rPr>
                      <m:t>𝐷𝐵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去比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𝐷𝐸</m:t>
                    </m:r>
                    <m:r>
                      <a:rPr>
                        <a:latin typeface="Cambria Math" panose="02040503050406030204" pitchFamily="18" charset="0"/>
                      </a:rPr>
                      <m:t>:</m:t>
                    </m:r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——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𝐷𝐵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不是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的边，必须换成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  <m:r>
                      <a:rPr>
                        <a:latin typeface="Cambria Math" panose="02040503050406030204" pitchFamily="18" charset="0"/>
                      </a:rPr>
                      <m:t>:</m:t>
                    </m:r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713167"/>
                <a:ext cx="11274552" cy="352958"/>
              </a:xfrm>
              <a:prstGeom prst="rect">
                <a:avLst/>
              </a:prstGeom>
              <a:blipFill>
                <a:blip r:embed="rId7"/>
                <a:stretch>
                  <a:fillRect l="-562" b="-137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3.2　具体考点与代表题拆解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15/68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1739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（2）黄金分割的双解意识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——代表题：金考仿真卷 第 12 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14677"/>
                <a:ext cx="11274552" cy="892332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如图，将舞台的长看作线段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 是舞台的黄金分割点，为了增强视觉平衡和美感，需要演员从舞台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 处出发，最终站在该舞台的黄金分割点处。若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 m，则演员最终位置到点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的距离为______ m（用含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的代数式表示）。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14677"/>
                <a:ext cx="11274552" cy="892332"/>
              </a:xfrm>
              <a:prstGeom prst="rect">
                <a:avLst/>
              </a:prstGeom>
              <a:blipFill>
                <a:blip r:embed="rId2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18" y="2118996"/>
            <a:ext cx="3596764" cy="1718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79777"/>
            <a:ext cx="11274552" cy="31739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金考仿真卷 第 12 题题图（舞台与两个黄金分割点）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4306903"/>
                <a:ext cx="11274552" cy="40477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76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a14:m>
                  <m:oMath xmlns:m="http://schemas.openxmlformats.org/officeDocument/2006/math"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sz="1376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 或 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3−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zh-CN" sz="1376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306903"/>
                <a:ext cx="11274552" cy="404774"/>
              </a:xfrm>
              <a:prstGeom prst="rect">
                <a:avLst/>
              </a:prstGeom>
              <a:blipFill>
                <a:blip r:embed="rId4"/>
                <a:stretch>
                  <a:fillRect l="-562" b="-36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57200" y="4821405"/>
                <a:ext cx="11274552" cy="74554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解析：线段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上的两个黄金分割点到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的距离一远一近：较远的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⁠，较近的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3−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⁠。演员”最终站在该舞台的黄金分割点处”，站到哪一个都符合题意，故两解都要写。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821405"/>
                <a:ext cx="11274552" cy="745540"/>
              </a:xfrm>
              <a:prstGeom prst="rect">
                <a:avLst/>
              </a:prstGeom>
              <a:blipFill>
                <a:blip r:embed="rId5"/>
                <a:stretch>
                  <a:fillRect l="-562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57200" y="5676673"/>
                <a:ext cx="11274552" cy="34011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易错点：默认”黄金分割点”只有一个位置；点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 到两个黄金分割点的距离一远一近，漏解是本题唯一陷阱。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676673"/>
                <a:ext cx="11274552" cy="340116"/>
              </a:xfrm>
              <a:prstGeom prst="rect">
                <a:avLst/>
              </a:prstGeom>
              <a:blipFill>
                <a:blip r:embed="rId6"/>
                <a:stretch>
                  <a:fillRect l="-562" b="-2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3.2　具体考点与代表题拆解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16/68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1739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（3）抛物线平移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——代表题：新题型模拟卷 第 8 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14677"/>
                <a:ext cx="11274552" cy="34011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将二次函数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−3</m:t>
                        </m:r>
                      </m:oMath>
                    </a14:m>
                  </mc:Choice>
                  <mc:Fallback xmlns="">
                    <a:r>
                      <a:rPr lang="zh-CN" sz="1376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y=(x+1)^2-3</a:t>
                    </a:r>
                  </mc:Fallback>
                </mc:AlternateContent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 向右平移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</mc:Choice>
                  <mc:Fallback xmlns="">
                    <a:r>
                      <a:rPr lang="zh-CN" sz="1376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</a:t>
                    </a:r>
                  </mc:Fallback>
                </mc:AlternateContent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个单位，再向下平移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a14:m>
                  </mc:Choice>
                  <mc:Fallback xmlns="">
                    <a:r>
                      <a:rPr lang="zh-CN" sz="1376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3</a:t>
                    </a:r>
                  </mc:Fallback>
                </mc:AlternateContent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个单位，得到新的抛物线的解析式为______。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14677"/>
                <a:ext cx="11274552" cy="340116"/>
              </a:xfrm>
              <a:prstGeom prst="rect">
                <a:avLst/>
              </a:prstGeom>
              <a:blipFill>
                <a:blip r:embed="rId2"/>
                <a:stretch>
                  <a:fillRect l="-562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1864521"/>
                <a:ext cx="11274552" cy="34011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76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−6</m:t>
                        </m:r>
                      </m:oMath>
                    </a14:m>
                  </mc:Choice>
                  <mc:Fallback xmlns="">
                    <a:r>
                      <a:rPr lang="zh-CN" sz="1376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y=(x-1)^2-6</a:t>
                    </a:r>
                  </mc:Fallback>
                </mc:AlternateContent>
                <a:endParaRPr lang="zh-CN" sz="1376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64521"/>
                <a:ext cx="11274552" cy="340116"/>
              </a:xfrm>
              <a:prstGeom prst="rect">
                <a:avLst/>
              </a:prstGeom>
              <a:blipFill>
                <a:blip r:embed="rId3"/>
                <a:stretch>
                  <a:fillRect l="-562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2314365"/>
                <a:ext cx="11274552" cy="34011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解析：平移不改变开口方向与形状，只动顶点：顶点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(−1,−3)→(1,−6)</m:t>
                        </m:r>
                      </m:oMath>
                    </a14:m>
                  </mc:Choice>
                  <mc:Fallback xmlns="">
                    <a:r>
                      <a:rPr lang="zh-CN" sz="1376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(-1,-3)→(1,-6)</a:t>
                    </a:r>
                  </mc:Fallback>
                </mc:AlternateContent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⁠，故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−6</m:t>
                        </m:r>
                      </m:oMath>
                    </a14:m>
                  </mc:Choice>
                  <mc:Fallback xmlns="">
                    <a:r>
                      <a:rPr lang="zh-CN" sz="1376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y=(x-1)^2-6</a:t>
                    </a:r>
                  </mc:Fallback>
                </mc:AlternateContent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314365"/>
                <a:ext cx="11274552" cy="340116"/>
              </a:xfrm>
              <a:prstGeom prst="rect">
                <a:avLst/>
              </a:prstGeom>
              <a:blipFill>
                <a:blip r:embed="rId4"/>
                <a:stretch>
                  <a:fillRect l="-562" b="-29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2764209"/>
                <a:ext cx="11274552" cy="34011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易错点：“左加右减”是对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376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</a:t>
                    </a:r>
                  </mc:Fallback>
                </mc:AlternateContent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 本身加减，“上加下减”加在常数项上；两步平移别互相抵错方向。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64209"/>
                <a:ext cx="11274552" cy="340116"/>
              </a:xfrm>
              <a:prstGeom prst="rect">
                <a:avLst/>
              </a:prstGeom>
              <a:blipFill>
                <a:blip r:embed="rId5"/>
                <a:stretch>
                  <a:fillRect l="-562" b="-1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457200" y="3488373"/>
            <a:ext cx="11274552" cy="31739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76" b="1">
                <a:solidFill>
                  <a:srgbClr val="3E6FC9"/>
                </a:solidFill>
                <a:latin typeface="微软雅黑"/>
                <a:ea typeface="微软雅黑"/>
              </a:rPr>
              <a:t>（4）二次函数定义求参数</a:t>
            </a:r>
            <a:r>
              <a:rPr lang="zh-CN" sz="1376">
                <a:solidFill>
                  <a:srgbClr val="1A2230"/>
                </a:solidFill>
                <a:latin typeface="微软雅黑"/>
                <a:ea typeface="微软雅黑"/>
              </a:rPr>
              <a:t>——代表题：期中模拟卷四 第 6 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57200" y="3860635"/>
                <a:ext cx="11274552" cy="34011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若函数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+2)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+3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+2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376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y=(a+2)x^(a^2+3a+2)</a:t>
                    </a:r>
                  </mc:Fallback>
                </mc:AlternateContent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 是关于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376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</a:t>
                    </a:r>
                  </mc:Fallback>
                </mc:AlternateContent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的二次函数，则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a14:m>
                  </mc:Choice>
                  <mc:Fallback xmlns="">
                    <a:r>
                      <a:rPr lang="zh-CN" sz="1376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</a:t>
                    </a:r>
                  </mc:Fallback>
                </mc:AlternateContent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的值为______。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860635"/>
                <a:ext cx="11274552" cy="340116"/>
              </a:xfrm>
              <a:prstGeom prst="rect">
                <a:avLst/>
              </a:prstGeom>
              <a:blipFill>
                <a:blip r:embed="rId6"/>
                <a:stretch>
                  <a:fillRect l="-562" b="-32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57200" y="4310479"/>
                <a:ext cx="11274552" cy="34011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76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</mc:Choice>
                  <mc:Fallback xmlns="">
                    <a:r>
                      <a:rPr lang="zh-CN" sz="1376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a=0</a:t>
                    </a:r>
                  </mc:Fallback>
                </mc:AlternateContent>
                <a:r>
                  <a:rPr lang="zh-CN" sz="1376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 或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=−3</m:t>
                        </m:r>
                      </m:oMath>
                    </a14:m>
                  </mc:Choice>
                  <mc:Fallback xmlns="">
                    <a:r>
                      <a:rPr lang="zh-CN" sz="1376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a=-3</a:t>
                    </a:r>
                  </mc:Fallback>
                </mc:AlternateContent>
                <a:endParaRPr lang="zh-CN" sz="1376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310479"/>
                <a:ext cx="11274552" cy="340116"/>
              </a:xfrm>
              <a:prstGeom prst="rect">
                <a:avLst/>
              </a:prstGeom>
              <a:blipFill>
                <a:blip r:embed="rId7"/>
                <a:stretch>
                  <a:fillRect l="-562" b="-2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457200" y="4760323"/>
                <a:ext cx="11274552" cy="61622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解析：指数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+2=2</m:t>
                        </m:r>
                      </m:oMath>
                    </a14:m>
                  </mc:Choice>
                  <mc:Fallback xmlns="">
                    <a:r>
                      <a:rPr lang="zh-CN" sz="1376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a^2+3a+2=2</a:t>
                    </a:r>
                  </mc:Fallback>
                </mc:AlternateContent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⁠，即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</mc:Choice>
                  <mc:Fallback xmlns="">
                    <a:r>
                      <a:rPr lang="zh-CN" sz="1376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a^2+3a=0</a:t>
                    </a:r>
                  </mc:Fallback>
                </mc:AlternateContent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</mc:Choice>
                  <mc:Fallback xmlns="">
                    <a:r>
                      <a:rPr lang="zh-CN" sz="1376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a=0</a:t>
                    </a:r>
                  </mc:Fallback>
                </mc:AlternateContent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 或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=−3</m:t>
                        </m:r>
                      </m:oMath>
                    </a14:m>
                  </mc:Choice>
                  <mc:Fallback xmlns="">
                    <a:r>
                      <a:rPr lang="zh-CN" sz="1376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a=-3</a:t>
                    </a:r>
                  </mc:Fallback>
                </mc:AlternateContent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⁠；检验系数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+2≠0</m:t>
                        </m:r>
                      </m:oMath>
                    </a14:m>
                  </mc:Choice>
                  <mc:Fallback xmlns="">
                    <a:r>
                      <a:rPr lang="zh-CN" sz="1376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a+2≠0</a:t>
                    </a:r>
                  </mc:Fallback>
                </mc:AlternateContent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⁠，两解均满足，故两解都保留。</a:t>
                </a: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760323"/>
                <a:ext cx="11274552" cy="616224"/>
              </a:xfrm>
              <a:prstGeom prst="rect">
                <a:avLst/>
              </a:prstGeom>
              <a:blipFill>
                <a:blip r:embed="rId8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457200" y="5486275"/>
                <a:ext cx="11274552" cy="61622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易错点：只解指数方程不验系数；若系数恰为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</mc:Choice>
                  <mc:Fallback xmlns="">
                    <a:r>
                      <a:rPr lang="zh-CN" sz="1376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0</a:t>
                    </a:r>
                  </mc:Fallback>
                </mc:AlternateContent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（如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=−2</m:t>
                        </m:r>
                      </m:oMath>
                    </a14:m>
                  </mc:Choice>
                  <mc:Fallback xmlns="">
                    <a:r>
                      <a:rPr lang="zh-CN" sz="1376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a=-2</a:t>
                    </a:r>
                  </mc:Fallback>
                </mc:AlternateContent>
                <a:r>
                  <a:rPr lang="zh-CN" sz="1376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⁠）必须舍去——此卷的”两解都保留”与 金考仿真卷 第 1 题的”舍正取负”形成对照，说明检验永远是最后一步。</a:t>
                </a: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486275"/>
                <a:ext cx="11274552" cy="616224"/>
              </a:xfrm>
              <a:prstGeom prst="rect">
                <a:avLst/>
              </a:prstGeom>
              <a:blipFill>
                <a:blip r:embed="rId9"/>
                <a:stretch>
                  <a:fillRect l="-562" b="-8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3.2　具体考点与代表题拆解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17/68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（5）待定系数法求表达式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——代表题：新题型模拟卷 第 7 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已知二次函数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𝑏𝑥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y=ax^2+bx+3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的图象经过点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(1,−1)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(1,-1)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⁠，则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a+b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的值为______。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385064"/>
              </a:xfrm>
              <a:prstGeom prst="rect">
                <a:avLst/>
              </a:prstGeom>
              <a:blipFill>
                <a:blip r:embed="rId2"/>
                <a:stretch>
                  <a:fillRect l="-675" b="-161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1950719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-4</a:t>
                    </a:r>
                  </mc:Fallback>
                </mc:AlternateContent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50719"/>
                <a:ext cx="11274552" cy="385064"/>
              </a:xfrm>
              <a:prstGeom prst="rect">
                <a:avLst/>
              </a:prstGeom>
              <a:blipFill>
                <a:blip r:embed="rId3"/>
                <a:stretch>
                  <a:fillRect l="-675" b="-161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2445511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解析：代入得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+3=−1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a+b+3=-1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⁠，故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=−4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a+b=-4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445511"/>
                <a:ext cx="11274552" cy="385064"/>
              </a:xfrm>
              <a:prstGeom prst="rect">
                <a:avLst/>
              </a:prstGeom>
              <a:blipFill>
                <a:blip r:embed="rId4"/>
                <a:stretch>
                  <a:fillRect l="-675" t="-3226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2940303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易错点：单个方程解不出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各自的值，但目标恰是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a+b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——整体思想；常数项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别漏加。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940303"/>
                <a:ext cx="11274552" cy="706120"/>
              </a:xfrm>
              <a:prstGeom prst="rect">
                <a:avLst/>
              </a:prstGeom>
              <a:blipFill>
                <a:blip r:embed="rId5"/>
                <a:stretch>
                  <a:fillRect l="-675" t="-1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3.2　具体考点与代表题拆解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18/68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（6）图象法解不等式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——代表题：金考仿真卷 第 7 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如图，抛物线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与直线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𝑏𝑥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的两个交点坐标分别为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  <m:r>
                      <a:rPr>
                        <a:latin typeface="Cambria Math" panose="02040503050406030204" pitchFamily="18" charset="0"/>
                      </a:rPr>
                      <m:t>(−6,8)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  <m:r>
                      <a:rPr>
                        <a:latin typeface="Cambria Math" panose="02040503050406030204" pitchFamily="18" charset="0"/>
                      </a:rPr>
                      <m:t>(2,2)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⁠，则不等式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≤</m:t>
                    </m:r>
                    <m:r>
                      <a:rPr>
                        <a:latin typeface="Cambria Math" panose="02040503050406030204" pitchFamily="18" charset="0"/>
                      </a:rPr>
                      <m:t>𝑏𝑥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的解集是______。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706120"/>
              </a:xfrm>
              <a:prstGeom prst="rect">
                <a:avLst/>
              </a:prstGeom>
              <a:blipFill>
                <a:blip r:embed="rId2"/>
                <a:stretch>
                  <a:fillRect l="-675" b="-1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043" y="1886718"/>
            <a:ext cx="2429914" cy="23601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28345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金考仿真卷 第 7 题题图（抛物线与直线的位置关系）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4751831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−6≤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751831"/>
                <a:ext cx="11274552" cy="385064"/>
              </a:xfrm>
              <a:prstGeom prst="rect">
                <a:avLst/>
              </a:prstGeom>
              <a:blipFill>
                <a:blip r:embed="rId4"/>
                <a:stretch>
                  <a:fillRect l="-675"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57200" y="5246623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≤</m:t>
                    </m:r>
                    <m:r>
                      <a:rPr>
                        <a:latin typeface="Cambria Math" panose="02040503050406030204" pitchFamily="18" charset="0"/>
                      </a:rPr>
                      <m:t>𝑏𝑥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即抛物线图象在直线下方（含交点）的部分，观察图象得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−6≤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246623"/>
                <a:ext cx="11274552" cy="385064"/>
              </a:xfrm>
              <a:prstGeom prst="rect">
                <a:avLst/>
              </a:prstGeom>
              <a:blipFill>
                <a:blip r:embed="rId5"/>
                <a:stretch>
                  <a:fillRect l="-675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57200" y="5741415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易错点：端点要不要取——“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”含等号，交点必取；开口方向决定”下方”是哪一段。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741415"/>
                <a:ext cx="11274552" cy="385064"/>
              </a:xfrm>
              <a:prstGeom prst="rect">
                <a:avLst/>
              </a:prstGeom>
              <a:blipFill>
                <a:blip r:embed="rId6"/>
                <a:stretch>
                  <a:fillRect l="-675" b="-96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3.2　具体考点与代表题拆解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19/68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（7）根与系数关系算弦长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——代表题：金考模拟卷 第 15 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已知二次函数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−2(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−1)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y=x^2-2(m-1)x+m^2-3m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为常数）的图象与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轴交于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,0)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A(x_1,0)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,0)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B(x_2,0)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两点。若线段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的长为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⁠，则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的值为______。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706120"/>
              </a:xfrm>
              <a:prstGeom prst="rect">
                <a:avLst/>
              </a:prstGeom>
              <a:blipFill>
                <a:blip r:embed="rId2"/>
                <a:stretch>
                  <a:fillRect l="-675"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271775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m=3</a:t>
                    </a:r>
                  </mc:Fallback>
                </mc:AlternateContent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71775"/>
                <a:ext cx="11274552" cy="385064"/>
              </a:xfrm>
              <a:prstGeom prst="rect">
                <a:avLst/>
              </a:prstGeom>
              <a:blipFill>
                <a:blip r:embed="rId3"/>
                <a:stretch>
                  <a:fillRect l="-675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2766567"/>
                <a:ext cx="11274552" cy="102717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=2(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x_1+x_2=2(m-1)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x_1x_2=m^2-3m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=|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AB=|x_1-x_2|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⁠，故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−4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=16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(x_1-x_2)^2=(x_1+x_2)^2-4x_1x_2=16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⁠，即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4(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−4(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)=16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4(m-1)^2-4(m^2-3m)=16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⁠，展开得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−8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+4+12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=16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-8m+4+12m=16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⁠，解得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m=3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66567"/>
                <a:ext cx="11274552" cy="1027176"/>
              </a:xfrm>
              <a:prstGeom prst="rect">
                <a:avLst/>
              </a:prstGeom>
              <a:blipFill>
                <a:blip r:embed="rId4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3903471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易错点：忘开方——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|=4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|x_1-x_2|=4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要平方成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16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16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⁠；结果代回检验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Δ&gt;0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m=3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=4&gt;0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Δ=4&gt;0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⁠）。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903471"/>
                <a:ext cx="11274552" cy="706120"/>
              </a:xfrm>
              <a:prstGeom prst="rect">
                <a:avLst/>
              </a:prstGeom>
              <a:blipFill>
                <a:blip r:embed="rId5"/>
                <a:stretch>
                  <a:fillRect l="-675" t="-17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3.3　隐蔽陷阱清单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20/68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05612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12" b="1">
                <a:solidFill>
                  <a:srgbClr val="3E6FC9"/>
                </a:solidFill>
                <a:latin typeface="微软雅黑"/>
                <a:ea typeface="微软雅黑"/>
              </a:rPr>
              <a:t>（1）构造法求非常规三角函数值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02891"/>
                <a:ext cx="11274552" cy="1363675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金考仿真卷 第 5 题　构建几何图形解决代数问题是”数形结合思想”的重要体现。在计算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tan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时，如图，在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𝑅𝑡</m:t>
                    </m:r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𝐴𝐶𝐵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中，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𝐴𝐵𝐶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⁠，延长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𝐶𝐵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到点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𝐵𝐷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⁠，连接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⁠，得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⁠。令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  <m:r>
                      <a:rPr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⁠，则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𝐵𝐷</m:t>
                    </m:r>
                    <m:r>
                      <a:rPr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⁠，所以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tan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𝐶𝐷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2+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2−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(2+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)(2−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=2−</m:t>
                    </m:r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⁠。类比这种方法，计算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tan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22.5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的值为（　　）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02891"/>
                <a:ext cx="11274552" cy="1363675"/>
              </a:xfrm>
              <a:prstGeom prst="rect">
                <a:avLst/>
              </a:prstGeom>
              <a:blipFill>
                <a:blip r:embed="rId2"/>
                <a:stretch>
                  <a:fillRect l="-4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229" y="2563394"/>
            <a:ext cx="3568543" cy="15516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3790694"/>
                <a:ext cx="4056927" cy="327273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12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金考仿真卷 第 5 题题图（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312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312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的构造图形）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790694"/>
                <a:ext cx="4056927" cy="327273"/>
              </a:xfrm>
              <a:prstGeom prst="rect">
                <a:avLst/>
              </a:prstGeom>
              <a:blipFill>
                <a:blip r:embed="rId4"/>
                <a:stretch>
                  <a:fillRect l="-1250" r="-312" b="-185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4172831"/>
                <a:ext cx="11274552" cy="38892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A.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       B.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       C.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           D. 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sz="1312">
                  <a:solidFill>
                    <a:srgbClr val="1A2230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172831"/>
                <a:ext cx="11274552" cy="388924"/>
              </a:xfrm>
              <a:prstGeom prst="rect">
                <a:avLst/>
              </a:prstGeom>
              <a:blipFill>
                <a:blip r:embed="rId5"/>
                <a:stretch>
                  <a:fillRect l="-450" b="-34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457200" y="4945803"/>
            <a:ext cx="11274552" cy="305612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12" b="1">
                <a:solidFill>
                  <a:srgbClr val="3E6FC9"/>
                </a:solidFill>
                <a:latin typeface="微软雅黑"/>
                <a:ea typeface="微软雅黑"/>
              </a:rPr>
              <a:t>答案：B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57200" y="5361143"/>
                <a:ext cx="11274552" cy="103875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解析：同法构造：在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𝑅𝑡</m:t>
                    </m:r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𝐴𝐶𝐵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中令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𝐴𝐵𝐶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⁠，延长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𝐶𝐵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到点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𝐵𝐷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⁠，连接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⁠，则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22.5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⁠。设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  <m:r>
                      <a:rPr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⁠，则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𝐵𝐷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𝐶𝐷</m:t>
                    </m:r>
                    <m:r>
                      <a:rPr>
                        <a:latin typeface="Cambria Math" panose="02040503050406030204" pitchFamily="18" charset="0"/>
                      </a:rPr>
                      <m:t>=1+</m:t>
                    </m:r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tan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22.5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tan</m:t>
                    </m:r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𝐶𝐷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1+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⁠。陷阱：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的对边是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不是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⁠；设参后所有边都用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表示再约分。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361143"/>
                <a:ext cx="11274552" cy="1038758"/>
              </a:xfrm>
              <a:prstGeom prst="rect">
                <a:avLst/>
              </a:prstGeom>
              <a:blipFill>
                <a:blip r:embed="rId6"/>
                <a:stretch>
                  <a:fillRect l="-450" b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3.3　隐蔽陷阱清单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21/68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293827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248" b="1">
                <a:solidFill>
                  <a:srgbClr val="3E6FC9"/>
                </a:solidFill>
                <a:latin typeface="微软雅黑"/>
                <a:ea typeface="微软雅黑"/>
              </a:rPr>
              <a:t>（2）动点相似必须双分类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391106"/>
                <a:ext cx="11274552" cy="130027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金考仿真卷 第 6 题　如图，已知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𝑅𝑡</m:t>
                    </m:r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中，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  <m:r>
                      <a:rPr>
                        <a:latin typeface="Cambria Math" panose="02040503050406030204" pitchFamily="18" charset="0"/>
                      </a:rPr>
                      <m:t>=10</m:t>
                    </m:r>
                    <m:r>
                      <m:rPr>
                        <m:nor/>
                      </m:rPr>
                      <a:rPr i="0"/>
                      <m:t>cm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  <m:r>
                      <a:rPr>
                        <a:latin typeface="Cambria Math" panose="02040503050406030204" pitchFamily="18" charset="0"/>
                      </a:rPr>
                      <m:t>=8</m:t>
                    </m:r>
                    <m:r>
                      <m:rPr>
                        <m:nor/>
                      </m:rPr>
                      <a:rPr i="0"/>
                      <m:t>cm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 由点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 出发沿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𝐵𝐴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 方向以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nor/>
                      </m:rPr>
                      <a:rPr i="0"/>
                      <m:t>cm</m:t>
                    </m:r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i="0"/>
                      <m:t>s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的速度向点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 匀速运动，同时点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 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 出发沿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 方向以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i="0"/>
                      <m:t>cm</m:t>
                    </m:r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i="0"/>
                      <m:t>s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的速度向点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 运动。连接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𝑃𝑄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⁠，设运动的时间为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（单位：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i="0"/>
                      <m:t>s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⁠）（其中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0&lt;</m:t>
                    </m:r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  <m:r>
                      <a:rPr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⁠）。当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为何值时，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𝐴𝑃𝑄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zh-CN" sz="1248">
                    <a:solidFill>
                      <a:srgbClr val="1A2230"/>
                    </a:solidFill>
                    <a:latin typeface="微软雅黑"/>
                    <a:ea typeface="微软雅黑"/>
                  </a:rPr>
                  <a:t> 相似（　　　）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391106"/>
                <a:ext cx="11274552" cy="1300276"/>
              </a:xfrm>
              <a:prstGeom prst="rect">
                <a:avLst/>
              </a:prstGeom>
              <a:blipFill>
                <a:blip r:embed="rId2"/>
                <a:stretch>
                  <a:fillRect l="-450" r="-2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790" y="2191965"/>
            <a:ext cx="2751380" cy="22668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378861" y="4461660"/>
                <a:ext cx="3964329" cy="314431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金考仿真卷 第 6 题题图（动点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的运动路径）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861" y="4461660"/>
                <a:ext cx="3964329" cy="314431"/>
              </a:xfrm>
              <a:prstGeom prst="rect">
                <a:avLst/>
              </a:prstGeom>
              <a:blipFill>
                <a:blip r:embed="rId4"/>
                <a:stretch>
                  <a:fillRect l="-955" b="-2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3325370"/>
                <a:ext cx="6452886" cy="682142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A.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        B.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23</m:t>
                        </m:r>
                      </m:den>
                    </m:f>
                  </m:oMath>
                </a14:m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        C.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或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23</m:t>
                        </m:r>
                      </m:den>
                    </m:f>
                  </m:oMath>
                </a14:m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        D.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或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23</m:t>
                        </m:r>
                      </m:den>
                    </m:f>
                  </m:oMath>
                </a14:m>
                <a:endParaRPr lang="zh-CN" sz="1248" dirty="0">
                  <a:solidFill>
                    <a:srgbClr val="1A2230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325370"/>
                <a:ext cx="6452886" cy="682142"/>
              </a:xfrm>
              <a:prstGeom prst="rect">
                <a:avLst/>
              </a:prstGeom>
              <a:blipFill>
                <a:blip r:embed="rId5"/>
                <a:stretch>
                  <a:fillRect l="-7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448056" y="4678682"/>
            <a:ext cx="1311296" cy="293827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248" b="1" dirty="0">
                <a:solidFill>
                  <a:srgbClr val="3E6FC9"/>
                </a:solidFill>
                <a:latin typeface="微软雅黑"/>
                <a:ea typeface="微软雅黑"/>
              </a:rPr>
              <a:t>答案：D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48056" y="5082237"/>
                <a:ext cx="11274552" cy="991209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𝐴𝑃</m:t>
                    </m:r>
                    <m:r>
                      <a:rPr>
                        <a:latin typeface="Cambria Math" panose="02040503050406030204" pitchFamily="18" charset="0"/>
                      </a:rPr>
                      <m:t>=10−3</m:t>
                    </m:r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𝐴𝑄</m:t>
                    </m:r>
                    <m:r>
                      <a:rPr>
                        <a:latin typeface="Cambria Math" panose="02040503050406030204" pitchFamily="18" charset="0"/>
                      </a:rPr>
                      <m:t>=2</m:t>
                    </m:r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⁠，公共角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𝐴𝑃𝑄</m:t>
                    </m:r>
                    <m:r>
                      <a:rPr>
                        <a:latin typeface="Cambria Math" panose="02040503050406030204" pitchFamily="18" charset="0"/>
                      </a:rPr>
                      <m:t>∽△</m:t>
                    </m:r>
                    <m:r>
                      <a:rPr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10−3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𝐴𝑃𝑄</m:t>
                    </m:r>
                    <m:r>
                      <a:rPr>
                        <a:latin typeface="Cambria Math" panose="02040503050406030204" pitchFamily="18" charset="0"/>
                      </a:rPr>
                      <m:t>∽△</m:t>
                    </m:r>
                    <m:r>
                      <a:rPr>
                        <a:latin typeface="Cambria Math" panose="02040503050406030204" pitchFamily="18" charset="0"/>
                      </a:rPr>
                      <m:t>𝐴𝐶𝐵</m:t>
                    </m:r>
                  </m:oMath>
                </a14:m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10−3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23</m:t>
                        </m:r>
                      </m:den>
                    </m:f>
                  </m:oMath>
                </a14:m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⁠。陷阱：只列一种对应顺序漏掉另一解；两个时间都要落在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0&lt;</m:t>
                    </m:r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  <m:r>
                      <a:rPr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sz="1248" dirty="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内。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" y="5082237"/>
                <a:ext cx="11274552" cy="991209"/>
              </a:xfrm>
              <a:prstGeom prst="rect">
                <a:avLst/>
              </a:prstGeom>
              <a:blipFill>
                <a:blip r:embed="rId6"/>
                <a:stretch>
                  <a:fillRect l="-4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3.3　隐蔽陷阱清单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22/68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（3）旋转</a:t>
                </a:r>
                <a:r>
                  <a:rPr lang="zh-CN" sz="1600" b="1">
                    <a:solidFill>
                      <a:srgbClr val="1A2230"/>
                    </a:solidFill>
                    <a:latin typeface="微软雅黑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600" b="1">
                    <a:solidFill>
                      <a:srgbClr val="1A2230"/>
                    </a:solidFill>
                    <a:latin typeface="微软雅黑"/>
                    <a:ea typeface="微软雅黑"/>
                  </a:rPr>
                  <a:t> </a:t>
                </a: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的全等构造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385064"/>
              </a:xfrm>
              <a:prstGeom prst="rect">
                <a:avLst/>
              </a:prstGeom>
              <a:blipFill>
                <a:blip r:embed="rId2"/>
                <a:stretch>
                  <a:fillRect l="-675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82343"/>
                <a:ext cx="11274552" cy="102717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新题型模拟卷 第 17 题　如图，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中，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  <m:r>
                      <a:rPr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  <m:r>
                      <a:rPr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是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中点，点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上且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𝐶𝐸</m:t>
                    </m:r>
                    <m:r>
                      <a:rPr>
                        <a:latin typeface="Cambria Math" panose="02040503050406030204" pitchFamily="18" charset="0"/>
                      </a:rPr>
                      <m:t>=2</m:t>
                    </m:r>
                    <m:r>
                      <a:rPr>
                        <a:latin typeface="Cambria Math" panose="02040503050406030204" pitchFamily="18" charset="0"/>
                      </a:rPr>
                      <m:t>𝐴𝐸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⁠，将线段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𝐷𝐸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绕点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顺时针旋转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得到线段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𝐷𝐹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⁠，连接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𝐴𝐹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⁠，则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𝐴𝐹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的长为__________。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82343"/>
                <a:ext cx="11274552" cy="1027176"/>
              </a:xfrm>
              <a:prstGeom prst="rect">
                <a:avLst/>
              </a:prstGeom>
              <a:blipFill>
                <a:blip r:embed="rId3"/>
                <a:stretch>
                  <a:fillRect l="-675" t="-1220" r="-23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128" y="2252696"/>
            <a:ext cx="2253744" cy="23526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4630927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新题型模拟卷 第 17 题题图（等腰三角形与旋转后的线段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𝐷𝐹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630927"/>
                <a:ext cx="11274552" cy="385064"/>
              </a:xfrm>
              <a:prstGeom prst="rect">
                <a:avLst/>
              </a:prstGeom>
              <a:blipFill>
                <a:blip r:embed="rId5"/>
                <a:stretch>
                  <a:fillRect l="-675" t="-3125" b="-9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3.3　隐蔽陷阱清单（续）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23/68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46024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34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460248"/>
              </a:xfrm>
              <a:prstGeom prst="rect">
                <a:avLst/>
              </a:prstGeom>
              <a:blipFill>
                <a:blip r:embed="rId2"/>
                <a:stretch>
                  <a:fillRect l="-675" b="-135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612391"/>
                <a:ext cx="11274552" cy="2441447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中点，故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  <m:r>
                      <a:rPr>
                        <a:latin typeface="Cambria Math" panose="02040503050406030204" pitchFamily="18" charset="0"/>
                      </a:rPr>
                      <m:t>⟂</m:t>
                    </m:r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⁠。作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𝐸𝐺</m:t>
                    </m:r>
                    <m:r>
                      <a:rPr>
                        <a:latin typeface="Cambria Math" panose="02040503050406030204" pitchFamily="18" charset="0"/>
                      </a:rPr>
                      <m:t>⟂</m:t>
                    </m:r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𝐹𝐻</m:t>
                    </m:r>
                    <m:r>
                      <a:rPr>
                        <a:latin typeface="Cambria Math" panose="02040503050406030204" pitchFamily="18" charset="0"/>
                      </a:rPr>
                      <m:t>⟂</m:t>
                    </m:r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𝐴𝐸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𝐴𝐺𝐸</m:t>
                    </m:r>
                    <m:r>
                      <a:rPr>
                        <a:latin typeface="Cambria Math" panose="02040503050406030204" pitchFamily="18" charset="0"/>
                      </a:rPr>
                      <m:t>∽△</m:t>
                    </m:r>
                    <m:r>
                      <a:rPr>
                        <a:latin typeface="Cambria Math" panose="02040503050406030204" pitchFamily="18" charset="0"/>
                      </a:rPr>
                      <m:t>𝐴𝐷𝐶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得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𝐴𝐺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𝐺𝐸</m:t>
                    </m:r>
                    <m:r>
                      <a:rPr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𝐷𝐺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⁠；由旋转得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𝐷𝐸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𝐷𝐹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𝐷𝐸</m:t>
                    </m:r>
                    <m:r>
                      <a:rPr>
                        <a:latin typeface="Cambria Math" panose="02040503050406030204" pitchFamily="18" charset="0"/>
                      </a:rPr>
                      <m:t>⟂</m:t>
                    </m:r>
                    <m:r>
                      <a:rPr>
                        <a:latin typeface="Cambria Math" panose="02040503050406030204" pitchFamily="18" charset="0"/>
                      </a:rPr>
                      <m:t>𝐷𝐹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⁠，故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𝑅𝑡</m:t>
                    </m:r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𝐷𝐺𝐸</m:t>
                    </m:r>
                    <m:r>
                      <a:rPr>
                        <a:latin typeface="Cambria Math" panose="02040503050406030204" pitchFamily="18" charset="0"/>
                      </a:rPr>
                      <m:t>≅</m:t>
                    </m:r>
                    <m:r>
                      <a:rPr>
                        <a:latin typeface="Cambria Math" panose="02040503050406030204" pitchFamily="18" charset="0"/>
                      </a:rPr>
                      <m:t>𝑅𝑡</m:t>
                    </m:r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𝐷𝐻𝐹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⁠，得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𝐻𝐹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𝐷𝐻</m:t>
                    </m:r>
                    <m:r>
                      <a:rPr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𝐴𝐻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𝐷𝐻</m:t>
                    </m:r>
                    <m:r>
                      <a:rPr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𝐴𝐹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𝐻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100+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256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34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⁠。陷阱：先由等腰条件证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  <m:r>
                      <a:rPr>
                        <a:latin typeface="Cambria Math" panose="02040503050406030204" pitchFamily="18" charset="0"/>
                      </a:rPr>
                      <m:t>⟂</m:t>
                    </m:r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才有一切；旋转后对应关系是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𝐷𝐺</m:t>
                    </m:r>
                    <m:r>
                      <a:rPr>
                        <a:latin typeface="Cambria Math" panose="02040503050406030204" pitchFamily="18" charset="0"/>
                      </a:rPr>
                      <m:t>↔</m:t>
                    </m:r>
                    <m:r>
                      <a:rPr>
                        <a:latin typeface="Cambria Math" panose="02040503050406030204" pitchFamily="18" charset="0"/>
                      </a:rPr>
                      <m:t>𝐻𝐹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𝐺𝐸</m:t>
                    </m:r>
                    <m:r>
                      <a:rPr>
                        <a:latin typeface="Cambria Math" panose="02040503050406030204" pitchFamily="18" charset="0"/>
                      </a:rPr>
                      <m:t>↔</m:t>
                    </m:r>
                    <m:r>
                      <a:rPr>
                        <a:latin typeface="Cambria Math" panose="02040503050406030204" pitchFamily="18" charset="0"/>
                      </a:rPr>
                      <m:t>𝐷𝐻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⁠，画图别想当然。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12391"/>
                <a:ext cx="11274552" cy="2441447"/>
              </a:xfrm>
              <a:prstGeom prst="rect">
                <a:avLst/>
              </a:prstGeom>
              <a:blipFill>
                <a:blip r:embed="rId3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3.3　隐蔽陷阱清单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24/68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05612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12" b="1">
                <a:solidFill>
                  <a:srgbClr val="3E6FC9"/>
                </a:solidFill>
                <a:latin typeface="微软雅黑"/>
                <a:ea typeface="微软雅黑"/>
              </a:rPr>
              <a:t>（4）翻折后与直线的公共点个数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02891"/>
                <a:ext cx="11274552" cy="590539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金考模拟卷 第 18 题　将二次函数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+2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的图象在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轴上方的部分沿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轴翻折后，所得新函数的图象如图所示，当直线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=2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与新函数的图象恰有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个公共点时，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的取值范围为______。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02891"/>
                <a:ext cx="11274552" cy="590539"/>
              </a:xfrm>
              <a:prstGeom prst="rect">
                <a:avLst/>
              </a:prstGeom>
              <a:blipFill>
                <a:blip r:embed="rId2"/>
                <a:stretch>
                  <a:fillRect l="-450" b="-234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820" y="2050898"/>
            <a:ext cx="2685311" cy="27562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114838"/>
            <a:ext cx="11274552" cy="305612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12">
                <a:solidFill>
                  <a:srgbClr val="1A2230"/>
                </a:solidFill>
                <a:latin typeface="微软雅黑"/>
                <a:ea typeface="微软雅黑"/>
              </a:rPr>
              <a:t>金考模拟卷 第 18 题题图（翻折后的新函数图象）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4804498"/>
                <a:ext cx="11274552" cy="327273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12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−7&lt;</m:t>
                    </m:r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  <m:r>
                      <a:rPr>
                        <a:latin typeface="Cambria Math" panose="02040503050406030204" pitchFamily="18" charset="0"/>
                      </a:rPr>
                      <m:t>≤−6</m:t>
                    </m:r>
                  </m:oMath>
                </a14:m>
                <a:endParaRPr lang="zh-CN" sz="1312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804498"/>
                <a:ext cx="11274552" cy="327273"/>
              </a:xfrm>
              <a:prstGeom prst="rect">
                <a:avLst/>
              </a:prstGeom>
              <a:blipFill>
                <a:blip r:embed="rId4"/>
                <a:stretch>
                  <a:fillRect l="-450" b="-2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57200" y="5241499"/>
                <a:ext cx="11274552" cy="1117071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解析：抛物线与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轴交于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  <m:r>
                      <a:rPr>
                        <a:latin typeface="Cambria Math" panose="02040503050406030204" pitchFamily="18" charset="0"/>
                      </a:rPr>
                      <m:t>(−1,0)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  <m:r>
                      <a:rPr>
                        <a:latin typeface="Cambria Math" panose="02040503050406030204" pitchFamily="18" charset="0"/>
                      </a:rPr>
                      <m:t>(3,0)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⁠，翻折部分为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−2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−1≤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⁠）。直线过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  <m:r>
                      <a:rPr>
                        <a:latin typeface="Cambria Math" panose="02040503050406030204" pitchFamily="18" charset="0"/>
                      </a:rPr>
                      <m:t>(3,0)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  <m:r>
                      <a:rPr>
                        <a:latin typeface="Cambria Math" panose="02040503050406030204" pitchFamily="18" charset="0"/>
                      </a:rPr>
                      <m:t>=−6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⁠；直线与翻折部分相切时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−2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Δ</m:t>
                    </m:r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⁠，得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  <m:r>
                      <a:rPr>
                        <a:latin typeface="Cambria Math" panose="02040503050406030204" pitchFamily="18" charset="0"/>
                      </a:rPr>
                      <m:t>=−7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⁠；公共点恰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个需直线在两临界位置之间且过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时计入端点，故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−7&lt;</m:t>
                    </m:r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  <m:r>
                      <a:rPr>
                        <a:latin typeface="Cambria Math" panose="02040503050406030204" pitchFamily="18" charset="0"/>
                      </a:rPr>
                      <m:t>≤−6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⁠。陷阱：临界位置一个是”过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“一个是”相切”，端点归属要看”恰有 4 个”在临界处是 3 个还是 5 个。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241499"/>
                <a:ext cx="11274552" cy="1117071"/>
              </a:xfrm>
              <a:prstGeom prst="rect">
                <a:avLst/>
              </a:prstGeom>
              <a:blipFill>
                <a:blip r:embed="rId5"/>
                <a:stretch>
                  <a:fillRect l="-450" r="-18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3.3　隐蔽陷阱清单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25/68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（5）正方形内接的密铺关系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166928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新题型模拟卷 第 18 题　如图，正方形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𝐸𝐹𝐺𝐻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内接于正方形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𝐴𝐵𝐶𝐷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⁠，即点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分别在正方形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𝐴𝐵𝐶𝐷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的四边上（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𝐴𝐸</m:t>
                    </m:r>
                    <m:r>
                      <a:rPr>
                        <a:latin typeface="Cambria Math" panose="02040503050406030204" pitchFamily="18" charset="0"/>
                      </a:rPr>
                      <m:t>&gt;</m:t>
                    </m:r>
                    <m:r>
                      <a:rPr>
                        <a:latin typeface="Cambria Math" panose="02040503050406030204" pitchFamily="18" charset="0"/>
                      </a:rPr>
                      <m:t>𝐵𝐸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⁠）。请画出点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分别关于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𝐻𝐸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𝐸𝐹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𝐹𝐺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𝐺𝐻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的对称点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⁠，如果四边形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𝑃𝑄𝑅𝑆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的面积恰好是正方形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𝐴𝐵𝐶𝐷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面积的一半，那么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tan</m:t>
                    </m:r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𝐸𝐹𝐵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的值是__________。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1669288"/>
              </a:xfrm>
              <a:prstGeom prst="rect">
                <a:avLst/>
              </a:prstGeom>
              <a:blipFill>
                <a:blip r:embed="rId2"/>
                <a:stretch>
                  <a:fillRect l="-675" t="-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901" y="2541744"/>
            <a:ext cx="2883174" cy="27048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246623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新题型模拟卷 第 18 题题图（内接正方形与对称点位置）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3.3　隐蔽陷阱清单（续）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26/68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46024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3−2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3-2√(2)</a:t>
                    </a:r>
                  </mc:Fallback>
                </mc:AlternateContent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460248"/>
              </a:xfrm>
              <a:prstGeom prst="rect">
                <a:avLst/>
              </a:prstGeom>
              <a:blipFill>
                <a:blip r:embed="rId2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612391"/>
                <a:ext cx="11274552" cy="2045207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解析：设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AB=1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BE=x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⁠，则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AE=1-x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⁠，内接正方形边长平方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+(1−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S=x^2+(1-x)^2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⁠；由对称密铺，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8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个全等小直角三角形与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𝑃𝑄𝑅𝑆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PQRS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恰密铺大正方形，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𝑃𝑄𝑅𝑆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PQRS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面积占一半得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16⋅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16⋅1/2x(1-x)=1/2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⁠，解得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x=(2-√(2))/4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（由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AE&gt;BE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取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BE&lt;1/2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的解），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𝐵𝐹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2+</m:t>
                            </m:r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BF=(2+√(2))/4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𝐸𝐹𝐵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𝐵𝐸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𝐵𝐹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2+</m:t>
                            </m:r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=3−2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tan∠EFB=(BE)/(BF)=(2-√(2))/(2+√(2))=3-2√(2)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⁠。陷阱：密铺中”8 个小三角形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𝑃𝑄𝑅𝑆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+PQRS=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大正方形”的面积账是唯一入口；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的两解要按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AE&gt;BE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取舍。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12391"/>
                <a:ext cx="11274552" cy="2045207"/>
              </a:xfrm>
              <a:prstGeom prst="rect">
                <a:avLst/>
              </a:prstGeom>
              <a:blipFill>
                <a:blip r:embed="rId3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3.3　隐蔽陷阱清单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27/68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（6）新定义函数”倍点”的判别式转化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102717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新题型模拟卷 第 24 题　定义：若一个函数图象上存在纵坐标是横坐标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倍的点（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为常数，且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≠0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k≠0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⁠），则把该函数称为”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倍函数”，该点称为”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倍点”。例如：“2 倍函数”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y=x+1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⁠，其”2 倍点”坐标为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(1,2)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(1,2)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1027176"/>
              </a:xfrm>
              <a:prstGeom prst="rect">
                <a:avLst/>
              </a:prstGeom>
              <a:blipFill>
                <a:blip r:embed="rId2"/>
                <a:stretch>
                  <a:fillRect l="-675" t="-12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537967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(1) ①判断：函数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y=2x+2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______“2 倍函数”（填”是”或”不是”）； ②函数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y=x^2+2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的图象上的”3 倍点”的坐标为____________。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537967"/>
                <a:ext cx="11274552" cy="706120"/>
              </a:xfrm>
              <a:prstGeom prst="rect">
                <a:avLst/>
              </a:prstGeom>
              <a:blipFill>
                <a:blip r:embed="rId3"/>
                <a:stretch>
                  <a:fillRect l="-675" b="-1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3298951"/>
                <a:ext cx="11274552" cy="46024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(2) 若抛物线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−1)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y=(m-1)x^2+mx+1/4m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上有两个”2 倍点”，求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的取值范围； 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98951"/>
                <a:ext cx="11274552" cy="460248"/>
              </a:xfrm>
              <a:prstGeom prst="rect">
                <a:avLst/>
              </a:prstGeom>
              <a:blipFill>
                <a:blip r:embed="rId4"/>
                <a:stretch>
                  <a:fillRect l="-675" b="-131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3814063"/>
                <a:ext cx="11274552" cy="85648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(3) 若函数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y=x^2+(m-k)x+n/4-k/4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的图象上存在唯一一个”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倍点”，且当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−2≤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≤1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-2≤m≤1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n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的最小值为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-k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⁠，求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的值。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814063"/>
                <a:ext cx="11274552" cy="856488"/>
              </a:xfrm>
              <a:prstGeom prst="rect">
                <a:avLst/>
              </a:prstGeom>
              <a:blipFill>
                <a:blip r:embed="rId5"/>
                <a:stretch>
                  <a:fillRect l="-675" b="-44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3.3　隐蔽陷阱清单（续）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28/68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436473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答案：(1)① 不是；②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(1,3)</m:t>
                        </m:r>
                      </m:oMath>
                    </a14:m>
                  </mc:Choice>
                  <mc:Fallback xmlns="">
                    <a:r>
                      <a:rPr lang="zh-CN" sz="1504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(1,3)</a:t>
                    </a:r>
                  </mc:Fallback>
                </mc:AlternateContent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 或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(2,6)</m:t>
                        </m:r>
                      </m:oMath>
                    </a14:m>
                  </mc:Choice>
                  <mc:Fallback xmlns="">
                    <a:r>
                      <a:rPr lang="zh-CN" sz="1504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(2,6)</a:t>
                    </a:r>
                  </mc:Fallback>
                </mc:AlternateContent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⁠；(2)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m&lt;4/3</a:t>
                    </a:r>
                  </mc:Fallback>
                </mc:AlternateContent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 且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≠1</m:t>
                        </m:r>
                      </m:oMath>
                    </a14:m>
                  </mc:Choice>
                  <mc:Fallback xmlns="">
                    <a:r>
                      <a:rPr lang="zh-CN" sz="1504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m≠1</a:t>
                    </a:r>
                  </mc:Fallback>
                </mc:AlternateContent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⁠；(3)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=−2</m:t>
                        </m:r>
                      </m:oMath>
                    </a14:m>
                  </mc:Choice>
                  <mc:Fallback xmlns="">
                    <a:r>
                      <a:rPr lang="zh-CN" sz="1504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k=-2</a:t>
                    </a:r>
                  </mc:Fallback>
                </mc:AlternateContent>
                <a:endParaRPr lang="zh-CN" sz="1504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436473"/>
              </a:xfrm>
              <a:prstGeom prst="rect">
                <a:avLst/>
              </a:prstGeom>
              <a:blipFill>
                <a:blip r:embed="rId2"/>
                <a:stretch>
                  <a:fillRect l="-562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588616"/>
                <a:ext cx="11274552" cy="667593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解析：(1)① 代入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(x,2x)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2x=2x+2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无解，不是；② 令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3x=x^2+2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x=1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或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(1,3)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(1,3)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(2,6)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(2,6)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588616"/>
                <a:ext cx="11274552" cy="667593"/>
              </a:xfrm>
              <a:prstGeom prst="rect">
                <a:avLst/>
              </a:prstGeom>
              <a:blipFill>
                <a:blip r:embed="rId3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365937"/>
                <a:ext cx="11274552" cy="808939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(2) 代入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(x,2x)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整理得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−1)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−2)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(m-1)x^2+(m-2)x+1/4m=0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⁠，“有两个”即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−2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−1)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Δ=(m-2)^2-(m-1)m&gt;0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m&lt;4/3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⁠；又二次项系数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−1≠0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m-1≠0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365937"/>
                <a:ext cx="11274552" cy="808939"/>
              </a:xfrm>
              <a:prstGeom prst="rect">
                <a:avLst/>
              </a:prstGeom>
              <a:blipFill>
                <a:blip r:embed="rId4"/>
                <a:stretch>
                  <a:fillRect l="-562" r="-225" b="-61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3284604"/>
                <a:ext cx="11274552" cy="2298801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(3) “恰有一个”即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Δ=0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⁠：代入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𝑘𝑥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(x,kx)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得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x^2+(m-2k)x+(n-k)/4=0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⁠，判别式为零得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n=(m-2k)^2+k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⁠；当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∈[−2,1]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2k∈[-2,1]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时最小值为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-k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相等解出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k=0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舍去；当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&gt;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k&gt;1/2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时最小值在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m=1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处，方程无负解；当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&lt;−1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k&lt;-1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时最小值在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=−2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m=-2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处，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4(1+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4(1+k)^2+k=-k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⁠，即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+2=0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2k^2+5k+2=0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=−2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k=-2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或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k=-1/2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（不合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&lt;−1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k&lt;-1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舍去），故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=−2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k=-2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⁠。陷阱：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m=1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时二次项系数为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0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必须排除；“恰有一个”对应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Δ=0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而非”一个交点”的直觉套用；区间端点与对称轴的位置决定最小值落点。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84604"/>
                <a:ext cx="11274552" cy="2298801"/>
              </a:xfrm>
              <a:prstGeom prst="rect">
                <a:avLst/>
              </a:prstGeom>
              <a:blipFill>
                <a:blip r:embed="rId5"/>
                <a:stretch>
                  <a:fillRect l="-562" r="-1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3.3　隐蔽陷阱清单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29/68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（7）两次仰角测高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1348232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期中自测卷二 第 15 题　小明在一个广场上测量旗杆的高度，他在水平面上以旗杆的底部点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为圆心，用软尺画得一个半径为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（单位：米）的圆，小明站在圆上测得旗杆的仰角为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⁠，然后将圆的半径扩大到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𝑟</m:t>
                    </m:r>
                    <m:r>
                      <a:rPr>
                        <a:latin typeface="Cambria Math" panose="02040503050406030204" pitchFamily="18" charset="0"/>
                      </a:rPr>
                      <m:t>+4)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（单位：米），此时站在圆上测得旗杆的仰角为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⁠，小明的眼睛距离地面的高度为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1.5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米，则旗杆的高度为______米。（请直接用无理数表示）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1348232"/>
              </a:xfrm>
              <a:prstGeom prst="rect">
                <a:avLst/>
              </a:prstGeom>
              <a:blipFill>
                <a:blip r:embed="rId2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712" y="2542787"/>
            <a:ext cx="2833527" cy="23827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925567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期中自测卷二 第 15 题题图（两圈仰角观测示意图）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第三部分　填空题专项分析（续）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30/68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46024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15+4</m:t>
                            </m:r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(15+4√(3))/2</a:t>
                    </a:r>
                  </mc:Fallback>
                </mc:AlternateContent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 米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460248"/>
              </a:xfrm>
              <a:prstGeom prst="rect">
                <a:avLst/>
              </a:prstGeom>
              <a:blipFill>
                <a:blip r:embed="rId2"/>
                <a:stretch>
                  <a:fillRect l="-675" b="-243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612391"/>
                <a:ext cx="11274552" cy="125272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解析：旗杆顶端高出眼睛的部分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ℎ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h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满足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h=√(3)r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且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+4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h=r+4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⁠，联立解得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=2(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+1)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r=4/(√(3)-1)=2(√(3)+1)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+6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h=2√(3)+6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⁠；旗杆高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+1.5=7.5+2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15+4</m:t>
                            </m:r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=h+1.5=7.5+2√(3)=(15+4√(3))/2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⁠。陷阱：忘加”眼睛离地”的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1.5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1.5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米；两个方程的公共量是”顶端高出眼睛的高度”，不是旗杆全高。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12391"/>
                <a:ext cx="11274552" cy="1252728"/>
              </a:xfrm>
              <a:prstGeom prst="rect">
                <a:avLst/>
              </a:prstGeom>
              <a:blipFill>
                <a:blip r:embed="rId3"/>
                <a:stretch>
                  <a:fillRect l="-675"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57200" y="3249167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以上考点的对应练习见第八部分变式 1、2、5、6、7、8、11。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第四部分　简答题专项分析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31/68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65328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解答题共 77 题，占全部 269 题的 29%，集中在每卷第 18~24 题，是”过程分”的主战场。与选择、填空”只看结果”不同，简答题按步骤给分：方法选对即有基础分，某一步算错只扣该步的分——规范书写本身就是得分手段。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79751"/>
          <a:ext cx="11274550" cy="2639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0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9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1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416">
                <a:tc>
                  <a:txBody>
                    <a:bodyPr/>
                    <a:lstStyle/>
                    <a:p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题型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出现次数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典型考法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对应知识板块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相似三角形的判定、证明与求线段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22 题（11 卷全覆盖）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A 字/8 字模型证明、等腰+补角构造相似、相似求线段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相似三角形的判定与性质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二次函数综合应用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19 题（其中 10 道压轴见第五部分）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利润最值、抛物线建系、动点存在性分类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二次函数综合与应用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待定系数求二次函数解析式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10 题（7 卷）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过两点求解析式、顶点式与一般式互化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二次函数的概念与表达式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比例线段计算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9 题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平行线分线段成比例、比例中项、黄金分割求值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比例线段与相似图形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解直角三角形与三角比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8 题（金考系 3 卷成块，另 4 卷零星）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特殊角混合计算、仰角俯角测高、坡度坡长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锐角三角比与解直角三角形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图象法解不等式/交点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5 题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一次函数与二次函数交点、图象定区间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二次函数与方程、不等式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新定义/规律探究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4 题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新定义运算、阅读理解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</a:rPr>
                        <a:t>其他拓展</a:t>
                      </a:r>
                    </a:p>
                  </a:txBody>
                  <a:tcPr marL="54864" marR="54864" marT="18288" marB="18288" anchor="ctr">
                    <a:lnL w="9525" cap="flat">
                      <a:solidFill>
                        <a:srgbClr val="D6DCE5"/>
                      </a:solidFill>
                    </a:lnL>
                    <a:lnR w="9525" cap="flat">
                      <a:solidFill>
                        <a:srgbClr val="D6DCE5"/>
                      </a:solidFill>
                    </a:lnR>
                    <a:lnT w="9525" cap="flat">
                      <a:solidFill>
                        <a:srgbClr val="D6DCE5"/>
                      </a:solidFill>
                    </a:lnT>
                    <a:lnB w="9525" cap="flat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4.2　高频题型拆解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32/68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（1）分式化简求值——代表题：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金考模拟卷 第 21 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46024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先化简，再求值：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÷</m:t>
                        </m:r>
                        <m:d>
                          <m:d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den>
                            </m:f>
                          </m:e>
                        </m:d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x/(x^2+2x+1)÷(1-1/(x+1))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⁠，其中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x=2cos30^∘-tan45^∘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460248"/>
              </a:xfrm>
              <a:prstGeom prst="rect">
                <a:avLst/>
              </a:prstGeom>
              <a:blipFill>
                <a:blip r:embed="rId2"/>
                <a:stretch>
                  <a:fillRect l="-675" b="-189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025903"/>
                <a:ext cx="11274552" cy="46024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答案：化简结果为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1/(x+1)</a:t>
                    </a:r>
                  </mc:Fallback>
                </mc:AlternateContent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⁠；代入后值为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(√(3))/3</a:t>
                    </a:r>
                  </mc:Fallback>
                </mc:AlternateContent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025903"/>
                <a:ext cx="11274552" cy="460248"/>
              </a:xfrm>
              <a:prstGeom prst="rect">
                <a:avLst/>
              </a:prstGeom>
              <a:blipFill>
                <a:blip r:embed="rId3"/>
                <a:stretch>
                  <a:fillRect l="-675" b="-243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2595879"/>
                <a:ext cx="11274552" cy="85648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解析：除法变乘法是唯一入口——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1-1/(x+1)=x/(x+1)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⁠，原式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</m:t>
                            </m:r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=x/((x+1)^2)⋅(x+1)/x=1/(x+1)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⁠；代入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=2×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−1=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x=2×(√(3))/2-1=√(3)-1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⁠，得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1/(√(3))=(√(3))/3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595879"/>
                <a:ext cx="11274552" cy="856488"/>
              </a:xfrm>
              <a:prstGeom prst="rect">
                <a:avLst/>
              </a:prstGeom>
              <a:blipFill>
                <a:blip r:embed="rId4"/>
                <a:stretch>
                  <a:fillRect l="-675" b="-264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3562095"/>
                <a:ext cx="11274552" cy="85648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易错点：除式必须先通分成一个分式再颠倒，不能直接把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1-1/(x+1)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当成”分子 1 分母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x+1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“去乘；最后结果要分母有理化。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62095"/>
                <a:ext cx="11274552" cy="856488"/>
              </a:xfrm>
              <a:prstGeom prst="rect">
                <a:avLst/>
              </a:prstGeom>
              <a:blipFill>
                <a:blip r:embed="rId5"/>
                <a:stretch>
                  <a:fillRect l="-675" r="-23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4.2　高频题型拆解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33/68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（2）实数混合运算（含特殊角三角比）——代表题：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新题型模拟卷 第 20 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46024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计算：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|-2|-(√(3)+1)^0+(-2)^2-tan45^∘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460248"/>
              </a:xfrm>
              <a:prstGeom prst="rect">
                <a:avLst/>
              </a:prstGeom>
              <a:blipFill>
                <a:blip r:embed="rId2"/>
                <a:stretch>
                  <a:fillRect l="-675" b="-162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025903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4</a:t>
                    </a:r>
                  </mc:Fallback>
                </mc:AlternateContent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025903"/>
                <a:ext cx="11274552" cy="385064"/>
              </a:xfrm>
              <a:prstGeom prst="rect">
                <a:avLst/>
              </a:prstGeom>
              <a:blipFill>
                <a:blip r:embed="rId3"/>
                <a:stretch>
                  <a:fillRect l="-675" b="-161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2520695"/>
                <a:ext cx="11274552" cy="85648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解析：四项各归各的法则：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|-2|=2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(√(3)+1)^0=1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(-2)^2=4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tan45^∘=1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⁠；原式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=2−1+4−1=4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=2-1+4-1=4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520695"/>
                <a:ext cx="11274552" cy="856488"/>
              </a:xfrm>
              <a:prstGeom prst="rect">
                <a:avLst/>
              </a:prstGeom>
              <a:blipFill>
                <a:blip r:embed="rId4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3486911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易错点：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次幂的底数是”和”照样等于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⁠，别以为底数含根号就要特殊处理；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(−2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(-2)^2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别写成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-4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tan45^∘=1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不是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86911"/>
                <a:ext cx="11274552" cy="706120"/>
              </a:xfrm>
              <a:prstGeom prst="rect">
                <a:avLst/>
              </a:prstGeom>
              <a:blipFill>
                <a:blip r:embed="rId5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4.2　高频题型拆解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34/68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（3）相似三角形的证明与求线段——代表题：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新题型模拟卷 第 21 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102717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如图，在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中，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上一点，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上一点，已知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𝐷𝐴𝐶</m:t>
                    </m:r>
                    <m:r>
                      <a:rPr>
                        <a:latin typeface="Cambria Math" panose="02040503050406030204" pitchFamily="18" charset="0"/>
                      </a:rPr>
                      <m:t>=∠</m:t>
                    </m:r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𝐶𝐷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𝐶𝐸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 (1) 求证：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𝐴𝐶𝐸</m:t>
                    </m:r>
                    <m:r>
                      <a:rPr>
                        <a:latin typeface="Cambria Math" panose="02040503050406030204" pitchFamily="18" charset="0"/>
                      </a:rPr>
                      <m:t>∽△</m:t>
                    </m:r>
                    <m:r>
                      <a:rPr>
                        <a:latin typeface="Cambria Math" panose="02040503050406030204" pitchFamily="18" charset="0"/>
                      </a:rPr>
                      <m:t>𝐵𝐴𝐷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 (2) 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𝐶𝐸</m:t>
                    </m:r>
                    <m:r>
                      <a:rPr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𝐴𝐸</m:t>
                    </m:r>
                    <m:r>
                      <a:rPr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𝐵𝐷</m:t>
                    </m:r>
                    <m:r>
                      <a:rPr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⁠，求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𝐷𝐸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的长。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1027176"/>
              </a:xfrm>
              <a:prstGeom prst="rect">
                <a:avLst/>
              </a:prstGeom>
              <a:blipFill>
                <a:blip r:embed="rId2"/>
                <a:stretch>
                  <a:fillRect l="-675" t="-12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515" y="2129626"/>
            <a:ext cx="3088970" cy="245462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4604511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新题型模拟卷 第 21 题题图（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上的构造）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604511"/>
                <a:ext cx="11274552" cy="385064"/>
              </a:xfrm>
              <a:prstGeom prst="rect">
                <a:avLst/>
              </a:prstGeom>
              <a:blipFill>
                <a:blip r:embed="rId4"/>
                <a:stretch>
                  <a:fillRect l="-675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4.2　高频题型拆解（续）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35/68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46024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答案：(1) 见解析；(2)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𝐷𝐸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DE=(19)/3</a:t>
                    </a:r>
                  </mc:Fallback>
                </mc:AlternateContent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460248"/>
              </a:xfrm>
              <a:prstGeom prst="rect">
                <a:avLst/>
              </a:prstGeom>
              <a:blipFill>
                <a:blip r:embed="rId2"/>
                <a:stretch>
                  <a:fillRect l="-675" b="-135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612391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解析：(1) 由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CD=CE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𝐶𝐷𝐸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𝐶𝐸𝐷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∠CDE=∠CED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（等边对等角），从而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𝐴𝐷𝐵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𝐴𝐸𝐶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∠ADB=∠AEC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（等角的补角相等）；又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𝐷𝐴𝐶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∠DAC=∠B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⁠，由两角对应相等得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𝐴𝐶𝐸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∽△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𝐵𝐴𝐷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△ACE∽△BAD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12391"/>
                <a:ext cx="11274552" cy="706120"/>
              </a:xfrm>
              <a:prstGeom prst="rect">
                <a:avLst/>
              </a:prstGeom>
              <a:blipFill>
                <a:blip r:embed="rId3"/>
                <a:stretch>
                  <a:fillRect l="-675" r="-2362" b="-35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428239"/>
                <a:ext cx="11274552" cy="85648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 marL="342900" indent="-342900">
                  <a:lnSpc>
                    <a:spcPct val="115000"/>
                  </a:lnSpc>
                  <a:spcAft>
                    <a:spcPts val="300"/>
                  </a:spcAft>
                  <a:buFont typeface="Arial"/>
                  <a:buChar char="•"/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由 (1) 得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𝐴𝐸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𝐵𝐷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𝐶𝐸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𝐴𝐷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(AE)/(BD)=(CE)/(AD)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⁠，即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𝐴𝐷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3/4=7/(AD)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⁠，解得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28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AD=(28)/3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⁠；故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𝐷𝐸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28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−3=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DE=AD-AE=(28)/3-3=(19)/3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428239"/>
                <a:ext cx="11274552" cy="856488"/>
              </a:xfrm>
              <a:prstGeom prst="rect">
                <a:avLst/>
              </a:prstGeom>
              <a:blipFill>
                <a:blip r:embed="rId4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3394455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易错点：相似对应顶点的字母顺序必须写对（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↔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A↔B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↔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C↔A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↔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E↔D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⁠），比例式才不会错位；求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𝐷𝐸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DE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不能拿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直接去比——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的对应边是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𝐴𝐷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AD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⁠，先求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𝐴𝐷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AD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再减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394455"/>
                <a:ext cx="11274552" cy="706120"/>
              </a:xfrm>
              <a:prstGeom prst="rect">
                <a:avLst/>
              </a:prstGeom>
              <a:blipFill>
                <a:blip r:embed="rId5"/>
                <a:stretch>
                  <a:fillRect l="-675" t="-1754" b="-1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4.3　简答题答题规范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36/68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计算与化简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：抄原式→逐项化简→每步一行；代入求值先化简再代入，代入负数、分数必须加括号。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10791"/>
            <a:ext cx="11274552" cy="65328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证明题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：每一步结论后注明依据（“等边对等角”“两角对应相等，两三角形相似”），不得跳步连证；相似符号两边的对应顶点字母顺序一致。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3807"/>
            <a:ext cx="11274552" cy="65328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求线段/求参数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：先写完整比例式（四项齐全）再代数，禁止心算跳步；设与求对应——求哪条线段就用哪条线段表达。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36823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应用题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：设未知数必须带单位，建系题先写”以……为原点建立平面直角坐标系”再代点，最后必须有带数据的”答”句。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第五部分　压轴题拆解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37/68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压轴一（函数综合型）——代表题：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自编测试二 第 24 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　抛物线＋铅垂高＋相似存在性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510791"/>
                <a:ext cx="11274552" cy="125272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如图，在平面直角坐标系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𝑥𝑂𝑦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中，矩形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𝑂𝐴𝐵𝐶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𝑂𝐴</m:t>
                    </m:r>
                    <m:r>
                      <a:rPr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  <m:r>
                      <a:rPr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轴的正半轴上，点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轴的负半轴上，抛物线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𝑏𝑥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经过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两点，连接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 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510791"/>
                <a:ext cx="11274552" cy="1252728"/>
              </a:xfrm>
              <a:prstGeom prst="rect">
                <a:avLst/>
              </a:prstGeom>
              <a:blipFill>
                <a:blip r:embed="rId2"/>
                <a:stretch>
                  <a:fillRect l="-675" t="-1010" r="-23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873247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(1) 请直接写出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的值； 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873247"/>
                <a:ext cx="11274552" cy="385064"/>
              </a:xfrm>
              <a:prstGeom prst="rect">
                <a:avLst/>
              </a:prstGeom>
              <a:blipFill>
                <a:blip r:embed="rId3"/>
                <a:stretch>
                  <a:fillRect l="-675" t="-3226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3368039"/>
                <a:ext cx="11274552" cy="102717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(2) 若动点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𝑂𝐴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（不与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两点重合）上，过点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作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轴的垂线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交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于点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⁠，交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于点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⁠，交抛物线于点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⁠，连接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 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368039"/>
                <a:ext cx="11274552" cy="1027176"/>
              </a:xfrm>
              <a:prstGeom prst="rect">
                <a:avLst/>
              </a:prstGeom>
              <a:blipFill>
                <a:blip r:embed="rId4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4504943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① 设线段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𝑃𝑀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的长为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⁠，求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的函数关系式； 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504943"/>
                <a:ext cx="11274552" cy="385064"/>
              </a:xfrm>
              <a:prstGeom prst="rect">
                <a:avLst/>
              </a:prstGeom>
              <a:blipFill>
                <a:blip r:embed="rId5"/>
                <a:stretch>
                  <a:fillRect l="-675" t="-3226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57200" y="4999735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② 当点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下方的抛物线上时，以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为顶点的三角形与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𝐴𝐸𝑀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是否相似？若相似，请求出此时点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的坐标；若不相似，请说明理由。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999735"/>
                <a:ext cx="11274552" cy="706120"/>
              </a:xfrm>
              <a:prstGeom prst="rect">
                <a:avLst/>
              </a:prstGeom>
              <a:blipFill>
                <a:blip r:embed="rId6"/>
                <a:stretch>
                  <a:fillRect l="-675" t="-1754" r="-337" b="-1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第五部分　压轴题拆解（续）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38/68</a:t>
            </a:r>
          </a:p>
        </p:txBody>
      </p:sp>
      <p:pic>
        <p:nvPicPr>
          <p:cNvPr id="6" name="Picture 5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877" y="1024128"/>
            <a:ext cx="2267092" cy="28802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3255263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自编测试二 第 24 题题图（矩形、直线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与抛物线）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55263"/>
                <a:ext cx="11274552" cy="385064"/>
              </a:xfrm>
              <a:prstGeom prst="rect">
                <a:avLst/>
              </a:prstGeom>
              <a:blipFill>
                <a:blip r:embed="rId3"/>
                <a:stretch>
                  <a:fillRect l="-675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3750055"/>
                <a:ext cx="11274552" cy="85648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答案：(1)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  <m:r>
                      <a:rPr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⁠；(2)①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ℎ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+4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（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0&lt;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⁠）；② 相似，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  <m:r>
                      <a:rPr>
                        <a:latin typeface="Cambria Math" panose="02040503050406030204" pitchFamily="18" charset="0"/>
                      </a:rPr>
                      <m:t>(1,0)</m:t>
                    </m:r>
                  </m:oMath>
                </a14:m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 或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750055"/>
                <a:ext cx="11274552" cy="856488"/>
              </a:xfrm>
              <a:prstGeom prst="rect">
                <a:avLst/>
              </a:prstGeom>
              <a:blipFill>
                <a:blip r:embed="rId4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4716271"/>
                <a:ext cx="11274552" cy="85648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第一眼识别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：矩形给全了四个点坐标；抛物线开口向上（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  <m:r>
                      <a:rPr>
                        <a:latin typeface="Cambria Math" panose="02040503050406030204" pitchFamily="18" charset="0"/>
                      </a:rPr>
                      <m:t>(0,−4)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直接读出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⁠；垂线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同时穿过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三点，铅垂高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𝑃𝑀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是 (2)① 的钥匙。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716271"/>
                <a:ext cx="11274552" cy="856488"/>
              </a:xfrm>
              <a:prstGeom prst="rect">
                <a:avLst/>
              </a:prstGeom>
              <a:blipFill>
                <a:blip r:embed="rId5"/>
                <a:stretch>
                  <a:fillRect l="-675" b="-29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第五部分　压轴题拆解（续）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39/68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808939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(1)</a:t>
                </a: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  <m:r>
                      <a:rPr>
                        <a:latin typeface="Cambria Math" panose="02040503050406030204" pitchFamily="18" charset="0"/>
                      </a:rPr>
                      <m:t>(3,0)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  <m:r>
                      <a:rPr>
                        <a:latin typeface="Cambria Math" panose="02040503050406030204" pitchFamily="18" charset="0"/>
                      </a:rPr>
                      <m:t>(0,−4)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⁠，故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  <m:r>
                      <a:rPr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⁠；代入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×9+3</m:t>
                    </m:r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  <m:r>
                      <a:rPr>
                        <a:latin typeface="Cambria Math" panose="02040503050406030204" pitchFamily="18" charset="0"/>
                      </a:rPr>
                      <m:t>−4=0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⁠，解得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808939"/>
              </a:xfrm>
              <a:prstGeom prst="rect">
                <a:avLst/>
              </a:prstGeom>
              <a:blipFill>
                <a:blip r:embed="rId2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961082"/>
                <a:ext cx="11274552" cy="436473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(2)①</a:t>
                </a: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抛物线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⁠；直线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上方，故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61082"/>
                <a:ext cx="11274552" cy="436473"/>
              </a:xfrm>
              <a:prstGeom prst="rect">
                <a:avLst/>
              </a:prstGeom>
              <a:blipFill>
                <a:blip r:embed="rId3"/>
                <a:stretch>
                  <a:fillRect l="-562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507283"/>
                <a:ext cx="11274552" cy="947155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𝑃𝑀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 (0&lt;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>
                          <a:latin typeface="Cambria Math" panose="02040503050406030204" pitchFamily="18" charset="0"/>
                        </a:rPr>
                        <m:t>&lt;3).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507283"/>
                <a:ext cx="11274552" cy="9471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3564166"/>
                <a:ext cx="11274552" cy="36580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最易卡住的步骤</a:t>
                </a: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的纵坐标都含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⁠，相减时常数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抵消，别把符号弄错。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64166"/>
                <a:ext cx="11274552" cy="365800"/>
              </a:xfrm>
              <a:prstGeom prst="rect">
                <a:avLst/>
              </a:prstGeom>
              <a:blipFill>
                <a:blip r:embed="rId5"/>
                <a:stretch>
                  <a:fillRect l="-562"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4039694"/>
                <a:ext cx="11274552" cy="118140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(2)②</a:t>
                </a: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“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下方”即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&lt;−4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⁠，解得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0&lt;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&lt;2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⁠。此时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𝑃𝐹</m:t>
                    </m:r>
                    <m:r>
                      <a:rPr>
                        <a:latin typeface="Cambria Math" panose="02040503050406030204" pitchFamily="18" charset="0"/>
                      </a:rPr>
                      <m:t>=−(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+4)=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(2−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𝐶𝐹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𝐴𝐸</m:t>
                    </m:r>
                    <m:r>
                      <a:rPr>
                        <a:latin typeface="Cambria Math" panose="02040503050406030204" pitchFamily="18" charset="0"/>
                      </a:rPr>
                      <m:t>=3−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𝐸𝑀</m:t>
                    </m:r>
                    <m:r>
                      <a:rPr>
                        <a:latin typeface="Cambria Math" panose="02040503050406030204" pitchFamily="18" charset="0"/>
                      </a:rPr>
                      <m:t>=4−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𝑃𝐹𝐶</m:t>
                    </m:r>
                    <m:r>
                      <a:rPr>
                        <a:latin typeface="Cambria Math" panose="02040503050406030204" pitchFamily="18" charset="0"/>
                      </a:rPr>
                      <m:t>=∠</m:t>
                    </m:r>
                    <m:r>
                      <a:rPr>
                        <a:latin typeface="Cambria Math" panose="02040503050406030204" pitchFamily="18" charset="0"/>
                      </a:rPr>
                      <m:t>𝐴𝐸𝑀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⁠，两类对应：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039694"/>
                <a:ext cx="11274552" cy="1181404"/>
              </a:xfrm>
              <a:prstGeom prst="rect">
                <a:avLst/>
              </a:prstGeom>
              <a:blipFill>
                <a:blip r:embed="rId6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57200" y="5330826"/>
                <a:ext cx="11274552" cy="808939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 marL="342900" indent="-342900">
                  <a:lnSpc>
                    <a:spcPct val="115000"/>
                  </a:lnSpc>
                  <a:spcAft>
                    <a:spcPts val="300"/>
                  </a:spcAft>
                  <a:buFont typeface="Arial"/>
                  <a:buChar char="•"/>
                </a:pP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对应一 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𝑃𝐹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𝐶𝐹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𝐸𝑀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𝐴𝐸</m:t>
                        </m:r>
                      </m:den>
                    </m:f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(2−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⁠，整理得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−4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+3=0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舍），故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  <m:r>
                      <a:rPr>
                        <a:latin typeface="Cambria Math" panose="02040503050406030204" pitchFamily="18" charset="0"/>
                      </a:rPr>
                      <m:t>(1,0)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330826"/>
                <a:ext cx="11274552" cy="808939"/>
              </a:xfrm>
              <a:prstGeom prst="rect">
                <a:avLst/>
              </a:prstGeom>
              <a:blipFill>
                <a:blip r:embed="rId7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第五部分　压轴题拆解（续）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40/68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85648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 marL="342900" indent="-342900">
                  <a:lnSpc>
                    <a:spcPct val="115000"/>
                  </a:lnSpc>
                  <a:spcAft>
                    <a:spcPts val="300"/>
                  </a:spcAft>
                  <a:buFont typeface="Arial"/>
                  <a:buChar char="•"/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对应二 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𝑃𝐹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𝐶𝐹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𝐴𝐸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𝐸𝑀</m:t>
                        </m:r>
                      </m:den>
                    </m:f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</a:t>
                </a:r>
                <a14:m>
                  <m:oMath xmlns:m="http://schemas.openxmlformats.org/officeDocument/2006/math"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(2−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3−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4−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⁠，约去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整理得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16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−71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+69=0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舍），故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856488"/>
              </a:xfrm>
              <a:prstGeom prst="rect">
                <a:avLst/>
              </a:prstGeom>
              <a:blipFill>
                <a:blip r:embed="rId2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2008631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D9534F"/>
                    </a:solidFill>
                    <a:latin typeface="微软雅黑"/>
                    <a:ea typeface="微软雅黑"/>
                  </a:rPr>
                  <a:t>易错位置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：两类相似的对应各用一组直角边（按”直角边对直角边”列式最稳，斜边不参与）；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是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重合的假根，必须舍去。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008631"/>
                <a:ext cx="11274552" cy="706120"/>
              </a:xfrm>
              <a:prstGeom prst="rect">
                <a:avLst/>
              </a:prstGeom>
              <a:blipFill>
                <a:blip r:embed="rId3"/>
                <a:stretch>
                  <a:fillRect l="-675" b="-35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第五部分　压轴题拆解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41/68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05612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12" b="1">
                <a:solidFill>
                  <a:srgbClr val="3E6FC9"/>
                </a:solidFill>
                <a:latin typeface="微软雅黑"/>
                <a:ea typeface="微软雅黑"/>
              </a:rPr>
              <a:t>同型压轴真题演练</a:t>
            </a:r>
            <a:r>
              <a:rPr lang="zh-CN" sz="1312">
                <a:solidFill>
                  <a:srgbClr val="1A2230"/>
                </a:solidFill>
                <a:latin typeface="微软雅黑"/>
                <a:ea typeface="微软雅黑"/>
              </a:rPr>
              <a:t>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8724" y="1465682"/>
            <a:ext cx="11274552" cy="305612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12" b="1" dirty="0">
                <a:solidFill>
                  <a:srgbClr val="3E6FC9"/>
                </a:solidFill>
                <a:latin typeface="微软雅黑"/>
                <a:ea typeface="微软雅黑"/>
              </a:rPr>
              <a:t>（1）金考模拟卷</a:t>
            </a:r>
            <a:r>
              <a:rPr lang="zh-CN" sz="1312" b="1" dirty="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312" b="1" dirty="0">
                <a:solidFill>
                  <a:srgbClr val="3E6FC9"/>
                </a:solidFill>
                <a:latin typeface="微软雅黑"/>
                <a:ea typeface="微软雅黑"/>
              </a:rPr>
              <a:t>第 25 题</a:t>
            </a:r>
            <a:r>
              <a:rPr lang="zh-CN" sz="1312" dirty="0">
                <a:solidFill>
                  <a:srgbClr val="1A2230"/>
                </a:solidFill>
                <a:latin typeface="微软雅黑"/>
                <a:ea typeface="微软雅黑"/>
              </a:rPr>
              <a:t>　抛物线＋垂线段最大＋对称求周长＋沿射线平移求交点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8724" y="1826158"/>
                <a:ext cx="11274552" cy="713841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如图，在平面直角坐标系中，抛物线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𝑏𝑥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轴交于点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  <m:r>
                      <a:rPr>
                        <a:latin typeface="Cambria Math" panose="02040503050406030204" pitchFamily="18" charset="0"/>
                      </a:rPr>
                      <m:t>(4,0)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轴交于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  <m:r>
                      <a:rPr>
                        <a:latin typeface="Cambria Math" panose="02040503050406030204" pitchFamily="18" charset="0"/>
                      </a:rPr>
                      <m:t>(0,3)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⁠，连接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 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24" y="1826158"/>
                <a:ext cx="11274552" cy="713841"/>
              </a:xfrm>
              <a:prstGeom prst="rect">
                <a:avLst/>
              </a:prstGeom>
              <a:blipFill>
                <a:blip r:embed="rId2"/>
                <a:stretch>
                  <a:fillRect l="-4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58724" y="2594863"/>
            <a:ext cx="11274552" cy="305612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12">
                <a:solidFill>
                  <a:srgbClr val="1A2230"/>
                </a:solidFill>
                <a:latin typeface="微软雅黑"/>
                <a:ea typeface="微软雅黑"/>
              </a:rPr>
              <a:t>(1) 求抛物线的表达式；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8724" y="2955339"/>
                <a:ext cx="11274552" cy="853805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(2)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是线段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上方抛物线上的一动点，过点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作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𝑃𝐷</m:t>
                    </m:r>
                    <m:r>
                      <a:rPr>
                        <a:latin typeface="Cambria Math" panose="02040503050406030204" pitchFamily="18" charset="0"/>
                      </a:rPr>
                      <m:t>⟂</m:t>
                    </m:r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⁠，垂足为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是直线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上一动点，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是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轴上一动点，连接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𝑃𝑀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𝑀𝑁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⁠。当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𝑃𝐷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的长度取得最大值时，求点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的坐标及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𝑃𝑀𝑁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周长的最小值； 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24" y="2955339"/>
                <a:ext cx="11274552" cy="853805"/>
              </a:xfrm>
              <a:prstGeom prst="rect">
                <a:avLst/>
              </a:prstGeom>
              <a:blipFill>
                <a:blip r:embed="rId3"/>
                <a:stretch>
                  <a:fillRect l="-450" r="-18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58724" y="3864008"/>
                <a:ext cx="11274552" cy="853805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(3) 将抛物线沿射线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方向平移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个单位长度得到抛物线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的对应点为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是平移后抛物线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上一点，直线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𝐴𝐹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交射线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𝐶𝐾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于点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⁠，且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𝐴𝑁𝐶</m:t>
                    </m:r>
                    <m:r>
                      <a:rPr>
                        <a:latin typeface="Cambria Math" panose="02040503050406030204" pitchFamily="18" charset="0"/>
                      </a:rPr>
                      <m:t>=∠</m:t>
                    </m:r>
                    <m:r>
                      <a:rPr>
                        <a:latin typeface="Cambria Math" panose="02040503050406030204" pitchFamily="18" charset="0"/>
                      </a:rPr>
                      <m:t>𝐶𝐴𝐵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⁠。请直接写出所有符合条件的点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的坐标，并写出求解点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sz="1312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的其中一种情况的过程。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24" y="3864008"/>
                <a:ext cx="11274552" cy="853805"/>
              </a:xfrm>
              <a:prstGeom prst="rect">
                <a:avLst/>
              </a:prstGeom>
              <a:blipFill>
                <a:blip r:embed="rId4"/>
                <a:stretch>
                  <a:fillRect l="-4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image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8355" y="4475137"/>
            <a:ext cx="3912242" cy="18388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008334"/>
            <a:ext cx="3084653" cy="305612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312">
                <a:solidFill>
                  <a:srgbClr val="1A2230"/>
                </a:solidFill>
                <a:latin typeface="微软雅黑"/>
                <a:ea typeface="微软雅黑"/>
              </a:rPr>
              <a:t>金考模拟卷 第 25 题题图（含备用图）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第五部分　压轴题拆解（续）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42/68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808939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答案：(1)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a14:m>
                  </mc:Choice>
                  <mc:Fallback xmlns="">
                    <a:r>
                      <a:rPr lang="zh-CN" sz="1504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y=-1/4x^2+1/4x+3</a:t>
                    </a:r>
                  </mc:Fallback>
                </mc:AlternateContent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⁠；(2)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2,</m:t>
                            </m:r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a14:m>
                  </mc:Choice>
                  <mc:Fallback xmlns="">
                    <a:r>
                      <a:rPr lang="zh-CN" sz="1504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P(2,5/2)</a:t>
                    </a:r>
                  </mc:Fallback>
                </mc:AlternateContent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𝑃𝑀𝑁</m:t>
                        </m:r>
                      </m:oMath>
                    </a14:m>
                  </mc:Choice>
                  <mc:Fallback xmlns="">
                    <a:r>
                      <a:rPr lang="zh-CN" sz="1504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△PMN</a:t>
                    </a:r>
                  </mc:Fallback>
                </mc:AlternateContent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 周长的最小值为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(5√(10))/2</a:t>
                    </a:r>
                  </mc:Fallback>
                </mc:AlternateContent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⁠；(3)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(21,−144)</m:t>
                        </m:r>
                      </m:oMath>
                    </a14:m>
                  </mc:Choice>
                  <mc:Fallback xmlns="">
                    <a:r>
                      <a:rPr lang="zh-CN" sz="1504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K(21,-144)</a:t>
                    </a:r>
                  </mc:Fallback>
                </mc:AlternateContent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 或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𝐾</m:t>
                        </m:r>
                        <m:d>
                          <m:d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53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94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49</m:t>
                                </m:r>
                              </m:den>
                            </m:f>
                          </m:e>
                        </m:d>
                      </m:oMath>
                    </a14:m>
                  </mc:Choice>
                  <mc:Fallback xmlns="">
                    <a:r>
                      <a:rPr lang="zh-CN" sz="1504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K(-(53)/7,(94)/(49))</a:t>
                    </a:r>
                  </mc:Fallback>
                </mc:AlternateContent>
                <a:endParaRPr lang="zh-CN" sz="1504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808939"/>
              </a:xfrm>
              <a:prstGeom prst="rect">
                <a:avLst/>
              </a:prstGeom>
              <a:blipFill>
                <a:blip r:embed="rId2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961082"/>
                <a:ext cx="11274552" cy="436473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解析：(1) 代入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(4,0)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B(4,0)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(0,3)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C(0,3)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b=1/4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c=3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61082"/>
                <a:ext cx="11274552" cy="436473"/>
              </a:xfrm>
              <a:prstGeom prst="rect">
                <a:avLst/>
              </a:prstGeom>
              <a:blipFill>
                <a:blip r:embed="rId3"/>
                <a:stretch>
                  <a:fillRect l="-562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507283"/>
                <a:ext cx="11274552" cy="155387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(2)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BC:y=-3/4x+3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⁠，铅垂差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𝐵𝐶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y_P-y_(BC)=-1/4x^2+x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x=2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处最大，此时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2,</m:t>
                            </m:r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P(2,5/2)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（夹角由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BC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与铅垂方向确定，为定值，铅垂差最大即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𝑃𝐷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PD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最大）；作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关于直线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AC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的对称点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,5</m:t>
                            </m:r>
                          </m:e>
                        </m:d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P_1(-1/2,5)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⁠、关于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轴的对称点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2,−</m:t>
                            </m:r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P_2(2,-5/2)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⁠，则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𝑃𝑀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𝑀𝑁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15</m:t>
                                        </m:r>
                                      </m:num>
                                      <m:den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PM+MN+NP≥P_1P_2=√((5/2)^2+((15)/2)^2)=(5√(10))/2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507283"/>
                <a:ext cx="11274552" cy="1553870"/>
              </a:xfrm>
              <a:prstGeom prst="rect">
                <a:avLst/>
              </a:prstGeom>
              <a:blipFill>
                <a:blip r:embed="rId4"/>
                <a:stretch>
                  <a:fillRect l="-562" r="-2137" b="-40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4170881"/>
                <a:ext cx="11274552" cy="1926335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(3) 沿射线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BC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（方向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(-4/5,3/5)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⁠）平移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5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个单位即向左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4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⁠、向上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3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y^'=-1/4x^2-7/4x+3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(−7,3)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F(-7,3)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⁠；由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AC:y=x+3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知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∠CAB=45^∘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⁠。在直线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𝐴𝐹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AF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上取点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N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𝐴𝑁𝐶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∠ANC=45^∘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⁠，符合条件的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N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有两处，对应射线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𝐶𝑁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CN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的方向分别为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(1,−7)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(1,-7)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(−7,−1)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(-7,-1)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⁠。以方向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(1,−7)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(1,-7)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为例：设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在射线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𝐶𝑁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:(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,3−7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CN:(u,3-7u)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≥0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u≥0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⁠）上，代入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y^'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解得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=21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u=21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(21,−144)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K(21,-144)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⁠；另一方向代入解得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𝐾</m:t>
                        </m:r>
                        <m:d>
                          <m:d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53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  <m:r>
                              <a:rPr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94</m:t>
                                </m:r>
                              </m:num>
                              <m:den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49</m:t>
                                </m:r>
                              </m:den>
                            </m:f>
                          </m:e>
                        </m:d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K(-(53)/7,(94)/(49))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170881"/>
                <a:ext cx="11274552" cy="1926335"/>
              </a:xfrm>
              <a:prstGeom prst="rect">
                <a:avLst/>
              </a:prstGeom>
              <a:blipFill>
                <a:blip r:embed="rId5"/>
                <a:stretch>
                  <a:fillRect l="-562" r="-4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第五部分　压轴题拆解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43/68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（2）学易金卷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 24 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　抛物线＋直角三角形证明＋相似存在性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166928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如图，抛物线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+2</m:t>
                    </m:r>
                    <m:r>
                      <a:rPr>
                        <a:latin typeface="Cambria Math" panose="02040503050406030204" pitchFamily="18" charset="0"/>
                      </a:rPr>
                      <m:t>𝑎𝑥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轴交于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  <m:r>
                      <a:rPr>
                        <a:latin typeface="Cambria Math" panose="02040503050406030204" pitchFamily="18" charset="0"/>
                      </a:rPr>
                      <m:t>(−3,0)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两点（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的左侧），与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轴负半轴交于点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⁠，且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𝑂𝐶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𝑂𝐴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⁠，抛物线的顶点为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 (1) 求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的值； (2) 证明：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𝐴𝐶𝑀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为直角三角形； (3) 若点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是线段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上一个动点，联结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𝑂𝑃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⁠，是否存在点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⁠，使得以点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为顶点的三角形与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相似？若存在，求出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点坐标；若不存在，请说明理由。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1669288"/>
              </a:xfrm>
              <a:prstGeom prst="rect">
                <a:avLst/>
              </a:prstGeom>
              <a:blipFill>
                <a:blip r:embed="rId2"/>
                <a:stretch>
                  <a:fillRect l="-675" r="-2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504" y="2562998"/>
            <a:ext cx="2507968" cy="26836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5246623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学易金卷 第 24 题题图（抛物线与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的位置）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246623"/>
                <a:ext cx="11274552" cy="385064"/>
              </a:xfrm>
              <a:prstGeom prst="rect">
                <a:avLst/>
              </a:prstGeom>
              <a:blipFill>
                <a:blip r:embed="rId4"/>
                <a:stretch>
                  <a:fillRect l="-675" t="-3226" b="-96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第五部分　压轴题拆解（续）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44/68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46024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答案：(1)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  <m:r>
                      <a:rPr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⁠；(2) 见解析；(3) 存在，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r>
                      <a:rPr>
                        <a:latin typeface="Cambria Math" panose="02040503050406030204" pitchFamily="18" charset="0"/>
                      </a:rPr>
                      <m:t>(−2,−1)</m:t>
                    </m:r>
                  </m:oMath>
                </a14:m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 或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,−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460248"/>
              </a:xfrm>
              <a:prstGeom prst="rect">
                <a:avLst/>
              </a:prstGeom>
              <a:blipFill>
                <a:blip r:embed="rId2"/>
                <a:stretch>
                  <a:fillRect l="-675" b="-162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612391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解析：(1) 由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𝑂𝐶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𝑂𝐴</m:t>
                    </m:r>
                    <m:r>
                      <a:rPr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且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轴负半轴得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  <m:r>
                      <a:rPr>
                        <a:latin typeface="Cambria Math" panose="02040503050406030204" pitchFamily="18" charset="0"/>
                      </a:rPr>
                      <m:t>(0,−3)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⁠，即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  <m:r>
                      <a:rPr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⁠；代入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  <m:r>
                      <a:rPr>
                        <a:latin typeface="Cambria Math" panose="02040503050406030204" pitchFamily="18" charset="0"/>
                      </a:rPr>
                      <m:t>(−3,0)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9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−6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⁠，得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12391"/>
                <a:ext cx="11274552" cy="706120"/>
              </a:xfrm>
              <a:prstGeom prst="rect">
                <a:avLst/>
              </a:prstGeom>
              <a:blipFill>
                <a:blip r:embed="rId3"/>
                <a:stretch>
                  <a:fillRect l="-675" r="-1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428239"/>
                <a:ext cx="11274552" cy="102717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(2)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+2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−3=(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+1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⁠，顶点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𝑀</m:t>
                    </m:r>
                    <m:r>
                      <a:rPr>
                        <a:latin typeface="Cambria Math" panose="02040503050406030204" pitchFamily="18" charset="0"/>
                      </a:rPr>
                      <m:t>(−1,−4)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=18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⁠，故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𝐴𝐶𝑀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𝐴𝐶𝑀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为直角三角形。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428239"/>
                <a:ext cx="11274552" cy="1027176"/>
              </a:xfrm>
              <a:prstGeom prst="rect">
                <a:avLst/>
              </a:prstGeom>
              <a:blipFill>
                <a:blip r:embed="rId4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3565143"/>
                <a:ext cx="11274552" cy="164896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(3)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  <m:r>
                      <a:rPr>
                        <a:latin typeface="Cambria Math" panose="02040503050406030204" pitchFamily="18" charset="0"/>
                      </a:rPr>
                      <m:t>(1,0)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𝐵𝐴𝐶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tan</m:t>
                    </m:r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𝐴𝐵𝐶</m:t>
                    </m:r>
                    <m:r>
                      <a:rPr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tan</m:t>
                    </m:r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𝐴𝐶𝐵</m:t>
                    </m:r>
                    <m:r>
                      <a:rPr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⁠。分两类：当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𝐶𝑃𝑂</m:t>
                    </m:r>
                    <m:r>
                      <a:rPr>
                        <a:latin typeface="Cambria Math" panose="02040503050406030204" pitchFamily="18" charset="0"/>
                      </a:rPr>
                      <m:t>=∠</m:t>
                    </m:r>
                    <m:r>
                      <a:rPr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𝑂𝐶𝑃</m:t>
                    </m:r>
                    <m:r>
                      <a:rPr>
                        <a:latin typeface="Cambria Math" panose="02040503050406030204" pitchFamily="18" charset="0"/>
                      </a:rPr>
                      <m:t>∽△</m:t>
                    </m:r>
                    <m:r>
                      <a:rPr>
                        <a:latin typeface="Cambria Math" panose="02040503050406030204" pitchFamily="18" charset="0"/>
                      </a:rPr>
                      <m:t>𝐶𝐴𝐵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𝐶𝑂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𝐶𝐴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𝑃𝐶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den>
                    </m:f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⁠，得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𝑃𝐶</m:t>
                    </m:r>
                    <m:r>
                      <a:rPr>
                        <a:latin typeface="Cambria Math" panose="02040503050406030204" pitchFamily="18" charset="0"/>
                      </a:rPr>
                      <m:t>=2</m:t>
                    </m:r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r>
                      <a:rPr>
                        <a:latin typeface="Cambria Math" panose="02040503050406030204" pitchFamily="18" charset="0"/>
                      </a:rPr>
                      <m:t>(−2,−1)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⁠；当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𝑂𝐶𝑃</m:t>
                    </m:r>
                    <m:r>
                      <a:rPr>
                        <a:latin typeface="Cambria Math" panose="02040503050406030204" pitchFamily="18" charset="0"/>
                      </a:rPr>
                      <m:t>=∠</m:t>
                    </m:r>
                    <m:r>
                      <a:rPr>
                        <a:latin typeface="Cambria Math" panose="02040503050406030204" pitchFamily="18" charset="0"/>
                      </a:rPr>
                      <m:t>𝐵𝐴𝐶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𝑂𝐶𝑃</m:t>
                    </m:r>
                    <m:r>
                      <a:rPr>
                        <a:latin typeface="Cambria Math" panose="02040503050406030204" pitchFamily="18" charset="0"/>
                      </a:rPr>
                      <m:t>∽△</m:t>
                    </m:r>
                    <m:r>
                      <a:rPr>
                        <a:latin typeface="Cambria Math" panose="02040503050406030204" pitchFamily="18" charset="0"/>
                      </a:rPr>
                      <m:t>𝐵𝐴𝐶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𝐶𝑂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𝑃𝐶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</m:den>
                    </m:f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⁠，得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,−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⁠。两个点都在线段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上，均成立。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65143"/>
                <a:ext cx="11274552" cy="1648968"/>
              </a:xfrm>
              <a:prstGeom prst="rect">
                <a:avLst/>
              </a:prstGeom>
              <a:blipFill>
                <a:blip r:embed="rId5"/>
                <a:stretch>
                  <a:fillRect l="-675" r="-23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第五部分　压轴题拆解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45/68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（3）期中模拟卷四</a:t>
            </a:r>
            <a:r>
              <a:rPr lang="zh-CN" sz="160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第 24 题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　矩形对角线动点＋一线三直角＋四点共圆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2045207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在矩形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𝐴𝐵𝐶𝐷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中，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𝑛𝐴𝐷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为对角线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上任意一点（不与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重合），连接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𝐶𝑀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⁠，过点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作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𝑀𝑁</m:t>
                    </m:r>
                    <m:r>
                      <a:rPr>
                        <a:latin typeface="Cambria Math" panose="02040503050406030204" pitchFamily="18" charset="0"/>
                      </a:rPr>
                      <m:t>⟂</m:t>
                    </m:r>
                    <m:r>
                      <a:rPr>
                        <a:latin typeface="Cambria Math" panose="02040503050406030204" pitchFamily="18" charset="0"/>
                      </a:rPr>
                      <m:t>𝐶𝑀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⁠，交线段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于点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 (1) 如图 1，当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  <m:r>
                      <a:rPr>
                        <a:latin typeface="Cambria Math" panose="02040503050406030204" pitchFamily="18" charset="0"/>
                      </a:rPr>
                      <m:t>=2</m:t>
                    </m:r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时； ①求 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𝐶𝑀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𝑀𝑁</m:t>
                        </m:r>
                      </m:den>
                    </m:f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的值； ②若 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𝐷𝑀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𝐷𝐵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⁠，求证：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𝐴𝑁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𝐵𝑁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 (2) 如图 2，当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  <m:r>
                      <a:rPr>
                        <a:latin typeface="Cambria Math" panose="02040503050406030204" pitchFamily="18" charset="0"/>
                      </a:rPr>
                      <m:t>=6</m:t>
                    </m:r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时，连接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𝑁𝐶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交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𝐵𝐷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于点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𝐵𝐺</m:t>
                    </m:r>
                    <m:r>
                      <a:rPr>
                        <a:latin typeface="Cambria Math" panose="02040503050406030204" pitchFamily="18" charset="0"/>
                      </a:rPr>
                      <m:t>:</m:t>
                    </m:r>
                    <m:r>
                      <a:rPr>
                        <a:latin typeface="Cambria Math" panose="02040503050406030204" pitchFamily="18" charset="0"/>
                      </a:rPr>
                      <m:t>𝑀𝐺</m:t>
                    </m:r>
                    <m:r>
                      <a:rPr>
                        <a:latin typeface="Cambria Math" panose="02040503050406030204" pitchFamily="18" charset="0"/>
                      </a:rPr>
                      <m:t>=3:5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⁠，求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𝑁𝐺</m:t>
                    </m:r>
                    <m:r>
                      <a:rPr>
                        <a:latin typeface="Cambria Math" panose="02040503050406030204" pitchFamily="18" charset="0"/>
                      </a:rPr>
                      <m:t>⋅</m:t>
                    </m:r>
                    <m:r>
                      <a:rPr>
                        <a:latin typeface="Cambria Math" panose="02040503050406030204" pitchFamily="18" charset="0"/>
                      </a:rPr>
                      <m:t>𝐶𝐺</m:t>
                    </m:r>
                  </m:oMath>
                </a14:m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的值。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2045207"/>
              </a:xfrm>
              <a:prstGeom prst="rect">
                <a:avLst/>
              </a:prstGeom>
              <a:blipFill>
                <a:blip r:embed="rId2"/>
                <a:stretch>
                  <a:fillRect l="-675" t="-617" r="-1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872" y="2693342"/>
            <a:ext cx="5989208" cy="27087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2542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期中模拟卷四 第 24 题题图（图 1、图 2 及备用图）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第五部分　压轴题拆解（续）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46/68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46024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答案：(1)①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𝐶𝑀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𝑀𝑁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(CM)/(MN)=2</a:t>
                    </a:r>
                  </mc:Fallback>
                </mc:AlternateContent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⁠；② 见解析；(2)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𝑁𝐺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𝐶𝐺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=15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NG⋅CG=15</a:t>
                    </a:r>
                  </mc:Fallback>
                </mc:AlternateContent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460248"/>
              </a:xfrm>
              <a:prstGeom prst="rect">
                <a:avLst/>
              </a:prstGeom>
              <a:blipFill>
                <a:blip r:embed="rId2"/>
                <a:stretch>
                  <a:fillRect l="-675" b="-135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612391"/>
                <a:ext cx="11274552" cy="164896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解析：(1)① 过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作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𝑀𝐸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⟂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ME⟂AB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⁠。不妨设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AD=1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AB=2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BE=x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⁠，由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在对角线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𝐵𝐷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BD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𝑀𝐸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ME=x/2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𝐵𝑀𝐸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∽△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𝐵𝐴𝐷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△BME∽△BAD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⁠）。由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𝑀𝐶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⟂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𝑀𝑁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MC⟂MN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（一线三直角）得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𝐸𝑁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𝑀𝐸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𝐴𝐷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𝑀𝐸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𝐵𝐸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(EN)/(ME)=(AD-ME)/(BE)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⁠，于是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𝑀𝑁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MN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的两条直角边各为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𝐶𝑀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CM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两条直角边的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1/2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（水平与垂直交叉对应），故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𝐶𝑀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𝑀𝑁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(CM)/(MN)=2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的位置无关。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12391"/>
                <a:ext cx="11274552" cy="1648968"/>
              </a:xfrm>
              <a:prstGeom prst="rect">
                <a:avLst/>
              </a:prstGeom>
              <a:blipFill>
                <a:blip r:embed="rId3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3371087"/>
                <a:ext cx="11274552" cy="85648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②由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𝐷𝑀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𝐷𝐵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(DM)/(DB)=2/5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BE=3/5AB=6/5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𝑀𝐸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ME=3/5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⁠，代入①的关系得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𝐸𝑁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EN=1/5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⁠，故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𝐴𝑁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𝐸𝑁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=1=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AN=AE+EN=4/5+1/5=1=(AB)/2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⁠，即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𝐴𝑁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𝐵𝑁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AN=BN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371087"/>
                <a:ext cx="11274552" cy="856488"/>
              </a:xfrm>
              <a:prstGeom prst="rect">
                <a:avLst/>
              </a:prstGeom>
              <a:blipFill>
                <a:blip r:embed="rId4"/>
                <a:stretch>
                  <a:fillRect l="-675" b="-44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4337303"/>
                <a:ext cx="11274552" cy="164896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(2) 此时矩形为正方形，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BD=12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⁠。由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𝐶𝑀𝑁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𝐶𝐵𝑁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90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∠CMN=∠CBN=90^∘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知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N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四点共圆，相交弦定理给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𝐶𝐺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𝑁𝐺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𝐵𝐺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𝑀𝐺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CG⋅NG=BG⋅MG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⁠。设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𝐵𝑀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𝐵𝐷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(BM)/(BD)=t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⁠，由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𝑀𝐶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⟂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𝑀𝑁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MC⟂MN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及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N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上解得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𝐵𝐺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𝐵𝐷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BG=1/4BD=3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⁠；结合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𝐵𝐺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𝑀𝐺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=3:5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BG:MG=3:5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𝑀𝐺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MG=5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⁠，故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𝑁𝐺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𝐶𝐺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𝐵𝐺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𝑀𝐺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=15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NG⋅CG=BG⋅MG=15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337303"/>
                <a:ext cx="11274552" cy="1648968"/>
              </a:xfrm>
              <a:prstGeom prst="rect">
                <a:avLst/>
              </a:prstGeom>
              <a:blipFill>
                <a:blip r:embed="rId5"/>
                <a:stretch>
                  <a:fillRect l="-675" t="-7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第五部分　压轴题拆解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47/68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29184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（4）期中自测卷二</a:t>
            </a:r>
            <a:r>
              <a:rPr lang="zh-CN" sz="144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40" b="1">
                <a:solidFill>
                  <a:srgbClr val="3E6FC9"/>
                </a:solidFill>
                <a:latin typeface="微软雅黑"/>
                <a:ea typeface="微软雅黑"/>
              </a:rPr>
              <a:t>第 24 题</a:t>
            </a: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　矩形＋双垂线构造＋相似分类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26463"/>
                <a:ext cx="11274552" cy="1490472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如图，矩形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𝐴𝐵𝐶𝐷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中，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  <m:r>
                      <a:rPr>
                        <a:latin typeface="Cambria Math" panose="02040503050406030204" pitchFamily="18" charset="0"/>
                      </a:rPr>
                      <m:t>&gt;</m:t>
                    </m:r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是对角线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上的一个动点（不包含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两点），过点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作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𝐸𝐹</m:t>
                    </m:r>
                    <m:r>
                      <a:rPr>
                        <a:latin typeface="Cambria Math" panose="02040503050406030204" pitchFamily="18" charset="0"/>
                      </a:rPr>
                      <m:t>⟂</m:t>
                    </m:r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⁠，分别交射线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⁠、射线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于点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 (1) 求证：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𝐴𝐸𝐹</m:t>
                    </m:r>
                    <m:r>
                      <a:rPr>
                        <a:latin typeface="Cambria Math" panose="02040503050406030204" pitchFamily="18" charset="0"/>
                      </a:rPr>
                      <m:t>∽△</m:t>
                    </m:r>
                    <m:r>
                      <a:rPr>
                        <a:latin typeface="Cambria Math" panose="02040503050406030204" pitchFamily="18" charset="0"/>
                      </a:rPr>
                      <m:t>𝐵𝐶𝐴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 (2) 连接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𝐵𝑃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𝐵𝑃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⁠，且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中点，求 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𝐴𝑃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𝑃𝐶</m:t>
                        </m:r>
                      </m:den>
                    </m:f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的值； (3) 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  <m:r>
                      <a:rPr>
                        <a:latin typeface="Cambria Math" panose="02040503050406030204" pitchFamily="18" charset="0"/>
                      </a:rPr>
                      <m:t>=2</m:t>
                    </m:r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⁠，移动点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𝐴𝐵𝑃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𝐶𝑃𝐷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相似，直接写出 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𝐴𝐹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den>
                    </m:f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的值。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26463"/>
                <a:ext cx="11274552" cy="1490472"/>
              </a:xfrm>
              <a:prstGeom prst="rect">
                <a:avLst/>
              </a:prstGeom>
              <a:blipFill>
                <a:blip r:embed="rId2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961" y="2774915"/>
            <a:ext cx="6671053" cy="22634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038343"/>
            <a:ext cx="11274552" cy="329184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期中自测卷二 第 24 题题图（图 1、图 2、图 3）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5477255"/>
                <a:ext cx="11274552" cy="420623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44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答案：(1) 见解析；(2) 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𝐴𝑃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𝑃𝐶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sz="144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⁠；(3) 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𝐴𝐹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5−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sz="144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 或 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sz="144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 或 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5+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zh-CN" sz="144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477255"/>
                <a:ext cx="11274552" cy="420623"/>
              </a:xfrm>
              <a:prstGeom prst="rect">
                <a:avLst/>
              </a:prstGeom>
              <a:blipFill>
                <a:blip r:embed="rId4"/>
                <a:stretch>
                  <a:fillRect l="-562" b="-352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第五部分　压轴题拆解（续）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48/68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解析：(1)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𝐸𝐴𝐹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𝐶𝐵𝐴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90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∠EAF=∠CBA=90^∘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⁠；由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𝐸𝐹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⟂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EF⟂AC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𝐴𝐹𝐸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90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𝐷𝐴𝐶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90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𝐵𝐶𝐴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𝐵𝐴𝐶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∠AFE=90^∘-∠DAC=90^∘-∠BCA=∠BAC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⁠，故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𝐴𝐸𝐹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∽△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𝐵𝐶𝐴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△AEF∽△BCA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706120"/>
              </a:xfrm>
              <a:prstGeom prst="rect">
                <a:avLst/>
              </a:prstGeom>
              <a:blipFill>
                <a:blip r:embed="rId2"/>
                <a:stretch>
                  <a:fillRect l="-675" t="-1786"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858263"/>
                <a:ext cx="11274552" cy="125272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(2) 不妨设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AB=1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AD=w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⁠。由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𝐴𝑃𝐹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∽△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𝐴𝐷𝐶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△APF∽△ADC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公共，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𝐴𝑃𝐹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𝐴𝐷𝐶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90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∠APF=∠ADC=90^∘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𝐴𝐹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𝑤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AF=w/2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得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𝐴𝑃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𝑃𝐶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+2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(AP)/(PC)=(w^2)/(w^2+2)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⁠；由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BP=AB=1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得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𝐴𝑃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𝑃𝐶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(AP)/(PC)=2/(w^2-1)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⁠。两者相等解得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w=2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w=-2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舍），故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𝐴𝑃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𝑃𝐶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(AP)/(PC)=2/3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58263"/>
                <a:ext cx="11274552" cy="1252728"/>
              </a:xfrm>
              <a:prstGeom prst="rect">
                <a:avLst/>
              </a:prstGeom>
              <a:blipFill>
                <a:blip r:embed="rId3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3220719"/>
                <a:ext cx="11274552" cy="164896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(3) 设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AB=1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AD=2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𝐴𝑃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(AP)/(AC)=t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⁠，由 (1) 的相似得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𝐴𝐹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(AF)/(AB)=(5t)/2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𝐴𝐵𝑃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△ABP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三边为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√(5)t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√(5t^2-2t+1)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𝐶𝑃𝐷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△CPD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三边为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√(5)(1-t)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−8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+4</m:t>
                            </m:r>
                          </m:e>
                        </m:rad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√(5t^2-8t+4)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⁠；按对应关系分类解得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t=(5-√(5))/(10)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t=1/2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5+</m:t>
                            </m:r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t=(5+√(5))/(10)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t=1/2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时两三角形三边同为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1,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1,(√(5))/2,(√(5))/2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⁠，全等），故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𝐴𝐹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(AF)/(AB)=(5-√(5))/4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或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5/4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或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5+</m:t>
                            </m:r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(5+√(5))/4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20719"/>
                <a:ext cx="11274552" cy="1648968"/>
              </a:xfrm>
              <a:prstGeom prst="rect">
                <a:avLst/>
              </a:prstGeom>
              <a:blipFill>
                <a:blip r:embed="rId4"/>
                <a:stretch>
                  <a:fillRect l="-675" r="-23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第五部分　压轴题拆解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49/68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40969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 b="1">
                <a:solidFill>
                  <a:srgbClr val="3E6FC9"/>
                </a:solidFill>
                <a:latin typeface="微软雅黑"/>
                <a:ea typeface="微软雅黑"/>
              </a:rPr>
              <a:t>压轴二（几何探究型）——代表题：</a:t>
            </a:r>
            <a:r>
              <a:rPr lang="zh-CN" sz="1504" b="1">
                <a:solidFill>
                  <a:srgbClr val="1A2230"/>
                </a:solidFill>
                <a:latin typeface="微软雅黑"/>
                <a:ea typeface="微软雅黑"/>
              </a:rPr>
              <a:t>自编测试二 第 25 题</a:t>
            </a: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　旋转相似（手拉手）三段式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767432"/>
                <a:ext cx="11274552" cy="127117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 marL="342900" indent="-342900">
                  <a:lnSpc>
                    <a:spcPct val="115000"/>
                  </a:lnSpc>
                  <a:spcAft>
                    <a:spcPts val="300"/>
                  </a:spcAft>
                  <a:buFont typeface="Arial"/>
                  <a:buChar char="•"/>
                </a:pP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问题引入：如图 1，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中，点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分别在边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𝐷𝐸</m:t>
                    </m:r>
                    <m:r>
                      <a:rPr>
                        <a:latin typeface="Cambria Math" panose="02040503050406030204" pitchFamily="18" charset="0"/>
                      </a:rPr>
                      <m:t>∥</m:t>
                    </m:r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⁠。将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𝐴𝐷𝐸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绕点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旋转任意角度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&lt;</m:t>
                    </m:r>
                    <m:r>
                      <a:rPr>
                        <a:latin typeface="Cambria Math" panose="02040503050406030204" pitchFamily="18" charset="0"/>
                      </a:rPr>
                      <m:t>𝛼</m:t>
                    </m:r>
                    <m:r>
                      <a:rPr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且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𝛼</m:t>
                    </m:r>
                    <m:r>
                      <a:rPr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⁠），仅就图 2 位置： ① 求证：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𝐴𝐷𝐵</m:t>
                    </m:r>
                    <m:r>
                      <a:rPr>
                        <a:latin typeface="Cambria Math" panose="02040503050406030204" pitchFamily="18" charset="0"/>
                      </a:rPr>
                      <m:t>∽△</m:t>
                    </m:r>
                    <m:r>
                      <a:rPr>
                        <a:latin typeface="Cambria Math" panose="02040503050406030204" pitchFamily="18" charset="0"/>
                      </a:rPr>
                      <m:t>𝐴𝐸𝐶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 ② 作直线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𝐶𝐸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𝐵𝐷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交于点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𝐵𝐹𝐶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𝐵𝐴𝐶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的数量关系是什么？并说明理由。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767432"/>
                <a:ext cx="11274552" cy="1271178"/>
              </a:xfrm>
              <a:prstGeom prst="rect">
                <a:avLst/>
              </a:prstGeom>
              <a:blipFill>
                <a:blip r:embed="rId2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871" y="2710205"/>
            <a:ext cx="4985210" cy="24863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306322"/>
            <a:ext cx="11274552" cy="340969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>
                <a:solidFill>
                  <a:srgbClr val="1A2230"/>
                </a:solidFill>
                <a:latin typeface="微软雅黑"/>
                <a:ea typeface="微软雅黑"/>
              </a:rPr>
              <a:t>自编测试二 第 25 题题图（图 1、图 2）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5757019"/>
                <a:ext cx="11274552" cy="667593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 marL="342900" indent="-342900">
                  <a:lnSpc>
                    <a:spcPct val="115000"/>
                  </a:lnSpc>
                  <a:spcAft>
                    <a:spcPts val="300"/>
                  </a:spcAft>
                  <a:buFont typeface="Arial"/>
                  <a:buChar char="•"/>
                </a:pP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如图 3，已知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𝐵𝐴𝐶</m:t>
                    </m:r>
                    <m:r>
                      <a:rPr>
                        <a:latin typeface="Cambria Math" panose="02040503050406030204" pitchFamily="18" charset="0"/>
                      </a:rPr>
                      <m:t>=∠</m:t>
                    </m:r>
                    <m:r>
                      <a:rPr>
                        <a:latin typeface="Cambria Math" panose="02040503050406030204" pitchFamily="18" charset="0"/>
                      </a:rPr>
                      <m:t>𝐷𝐴𝐸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  <m:r>
                      <a:rPr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𝐴𝐸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𝐵𝐸</m:t>
                    </m:r>
                    <m:r>
                      <a:rPr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𝐴𝐵𝐸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⁠，求线段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𝐵𝐷</m:t>
                    </m:r>
                  </m:oMath>
                </a14:m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的长。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757019"/>
                <a:ext cx="11274552" cy="667593"/>
              </a:xfrm>
              <a:prstGeom prst="rect">
                <a:avLst/>
              </a:prstGeom>
              <a:blipFill>
                <a:blip r:embed="rId4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第五部分　压轴题拆解（续）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50/68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64190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 marL="342900" indent="-342900">
                  <a:lnSpc>
                    <a:spcPct val="115000"/>
                  </a:lnSpc>
                  <a:spcAft>
                    <a:spcPts val="300"/>
                  </a:spcAft>
                  <a:buFont typeface="Arial"/>
                  <a:buChar char="•"/>
                </a:pPr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如图 4，在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𝑅𝑡</m:t>
                    </m:r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中，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𝐵𝐴𝐶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  <m:r>
                      <a:rPr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  <m:r>
                      <a:rPr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为斜边作等腰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𝑅𝑡</m:t>
                    </m:r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𝐵𝐶𝐷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在直线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同侧），连接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⁠，求线段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的长。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641908"/>
              </a:xfrm>
              <a:prstGeom prst="rect">
                <a:avLst/>
              </a:prstGeom>
              <a:blipFill>
                <a:blip r:embed="rId2"/>
                <a:stretch>
                  <a:fillRect l="-450" b="-98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609" y="1528082"/>
            <a:ext cx="4633733" cy="2314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952035"/>
            <a:ext cx="11274552" cy="329184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440">
                <a:solidFill>
                  <a:srgbClr val="1A2230"/>
                </a:solidFill>
                <a:latin typeface="微软雅黑"/>
                <a:ea typeface="微软雅黑"/>
              </a:rPr>
              <a:t>自编测试二 第 25 题题图（图 3、图 4）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4390947"/>
                <a:ext cx="11274552" cy="420623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44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答案：(1)① 见解析；②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𝐵𝐹𝐶</m:t>
                    </m:r>
                    <m:r>
                      <a:rPr>
                        <a:latin typeface="Cambria Math" panose="02040503050406030204" pitchFamily="18" charset="0"/>
                      </a:rPr>
                      <m:t>=∠</m:t>
                    </m:r>
                    <m:r>
                      <a:rPr>
                        <a:latin typeface="Cambria Math" panose="02040503050406030204" pitchFamily="18" charset="0"/>
                      </a:rPr>
                      <m:t>𝐵𝐴𝐶</m:t>
                    </m:r>
                  </m:oMath>
                </a14:m>
                <a:r>
                  <a:rPr lang="zh-CN" sz="144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⁠；(2)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𝐵𝐷</m:t>
                    </m:r>
                    <m:r>
                      <a:rPr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zh-CN" sz="144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⁠；(3)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sz="144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390947"/>
                <a:ext cx="11274552" cy="420623"/>
              </a:xfrm>
              <a:prstGeom prst="rect">
                <a:avLst/>
              </a:prstGeom>
              <a:blipFill>
                <a:blip r:embed="rId4"/>
                <a:stretch>
                  <a:fillRect l="-562" b="-352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4921298"/>
                <a:ext cx="11274552" cy="777239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44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(1)①</a:t>
                </a:r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𝐷𝐸</m:t>
                    </m:r>
                    <m:r>
                      <a:rPr>
                        <a:latin typeface="Cambria Math" panose="02040503050406030204" pitchFamily="18" charset="0"/>
                      </a:rPr>
                      <m:t>∥</m:t>
                    </m:r>
                    <m:r>
                      <a:rPr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得 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𝐴𝐷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𝐴𝐸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</m:den>
                    </m:f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且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𝐷𝐴𝐸</m:t>
                    </m:r>
                    <m:r>
                      <a:rPr>
                        <a:latin typeface="Cambria Math" panose="02040503050406030204" pitchFamily="18" charset="0"/>
                      </a:rPr>
                      <m:t>=∠</m:t>
                    </m:r>
                    <m:r>
                      <a:rPr>
                        <a:latin typeface="Cambria Math" panose="02040503050406030204" pitchFamily="18" charset="0"/>
                      </a:rPr>
                      <m:t>𝐵𝐴𝐶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⁠；旋转不改变 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𝐴𝐷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den>
                    </m:f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与旋转后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𝐷𝐴𝐵</m:t>
                    </m:r>
                    <m:r>
                      <a:rPr>
                        <a:latin typeface="Cambria Math" panose="02040503050406030204" pitchFamily="18" charset="0"/>
                      </a:rPr>
                      <m:t>=∠</m:t>
                    </m:r>
                    <m:r>
                      <a:rPr>
                        <a:latin typeface="Cambria Math" panose="02040503050406030204" pitchFamily="18" charset="0"/>
                      </a:rPr>
                      <m:t>𝐸𝐴𝐶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⁠，由两边成比例且夹角相等得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△</m:t>
                    </m:r>
                    <m:r>
                      <a:rPr>
                        <a:latin typeface="Cambria Math" panose="02040503050406030204" pitchFamily="18" charset="0"/>
                      </a:rPr>
                      <m:t>𝐴𝐷𝐵</m:t>
                    </m:r>
                    <m:r>
                      <a:rPr>
                        <a:latin typeface="Cambria Math" panose="02040503050406030204" pitchFamily="18" charset="0"/>
                      </a:rPr>
                      <m:t>∽△</m:t>
                    </m:r>
                    <m:r>
                      <a:rPr>
                        <a:latin typeface="Cambria Math" panose="02040503050406030204" pitchFamily="18" charset="0"/>
                      </a:rPr>
                      <m:t>𝐴𝐸𝐶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921298"/>
                <a:ext cx="11274552" cy="777239"/>
              </a:xfrm>
              <a:prstGeom prst="rect">
                <a:avLst/>
              </a:prstGeom>
              <a:blipFill>
                <a:blip r:embed="rId5"/>
                <a:stretch>
                  <a:fillRect l="-562" b="-112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57200" y="5808265"/>
                <a:ext cx="11274552" cy="35295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44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最易卡住的步骤</a:t>
                </a:r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：旋转后图形”散架”，要盯住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𝐴𝐷</m:t>
                    </m:r>
                    <m:r>
                      <a:rPr>
                        <a:latin typeface="Cambria Math" panose="02040503050406030204" pitchFamily="18" charset="0"/>
                      </a:rPr>
                      <m:t>:</m:t>
                    </m:r>
                    <m:r>
                      <a:rPr>
                        <a:latin typeface="Cambria Math" panose="02040503050406030204" pitchFamily="18" charset="0"/>
                      </a:rPr>
                      <m:t>𝐴𝐸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𝐴𝐵</m:t>
                    </m:r>
                    <m:r>
                      <a:rPr>
                        <a:latin typeface="Cambria Math" panose="02040503050406030204" pitchFamily="18" charset="0"/>
                      </a:rPr>
                      <m:t>:</m:t>
                    </m:r>
                    <m:r>
                      <a:rPr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这条不变的比例与旋转角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∠</m:t>
                    </m:r>
                    <m:r>
                      <a:rPr>
                        <a:latin typeface="Cambria Math" panose="02040503050406030204" pitchFamily="18" charset="0"/>
                      </a:rPr>
                      <m:t>𝐷𝐴𝐵</m:t>
                    </m:r>
                    <m:r>
                      <a:rPr>
                        <a:latin typeface="Cambria Math" panose="02040503050406030204" pitchFamily="18" charset="0"/>
                      </a:rPr>
                      <m:t>=∠</m:t>
                    </m:r>
                    <m:r>
                      <a:rPr>
                        <a:latin typeface="Cambria Math" panose="02040503050406030204" pitchFamily="18" charset="0"/>
                      </a:rPr>
                      <m:t>𝐶𝐴𝐸</m:t>
                    </m:r>
                  </m:oMath>
                </a14:m>
                <a:r>
                  <a:rPr lang="zh-CN" sz="144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808265"/>
                <a:ext cx="11274552" cy="352958"/>
              </a:xfrm>
              <a:prstGeom prst="rect">
                <a:avLst/>
              </a:prstGeom>
              <a:blipFill>
                <a:blip r:embed="rId6"/>
                <a:stretch>
                  <a:fillRect l="-562" b="-137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第五部分　压轴题拆解（续）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51/68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7200" y="1042415"/>
                <a:ext cx="11274552" cy="969385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(1)②</a:t>
                </a: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𝐵𝐹𝐶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𝐵𝐴𝐶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∠BFC=∠BAC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⁠。理由：由①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𝐴𝐶𝐸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∠ABD=∠ACE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⁠，设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𝐵𝐷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BD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AC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交于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G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⁠，在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𝐵𝐺𝐶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△BGC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𝐹𝐺𝐶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△FGC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的”8 字”结构中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𝐹𝐺𝐶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𝐴𝐺𝐵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∠FGC=∠AGB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（对顶角），故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𝐵𝐹𝐶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180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𝐴𝐶𝐸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𝐹𝐺𝐶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𝐵𝐴𝐶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∠BFC=180^∘-∠ACE-∠FGC=∠BAC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42415"/>
                <a:ext cx="11274552" cy="969385"/>
              </a:xfrm>
              <a:prstGeom prst="rect">
                <a:avLst/>
              </a:prstGeom>
              <a:blipFill>
                <a:blip r:embed="rId2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2121528"/>
                <a:ext cx="11274552" cy="118140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(2)</a:t>
                </a: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由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AB=AC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𝐵𝐴𝐶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90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∠BAC=90^∘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=6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BC=6√(2)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∠ABC=45^∘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∠ABE=45^∘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且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E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异侧，故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𝐶𝐵𝐸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90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∠CBE=∠ABC+∠ABE=90^∘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⁠。同①可证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≅△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𝐴𝐶𝐸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△ABD≅△ACE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AB=AC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𝐴𝐸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AD=AE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𝐵𝐴𝐷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𝐶𝐴𝐸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∠BAD=∠CAE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⁠），得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𝐵</m:t>
                            </m:r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𝐵</m:t>
                            </m:r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72+9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=9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BD=CE=√(BC^2+BE^2)=√(72+9)=9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21528"/>
                <a:ext cx="11274552" cy="1181404"/>
              </a:xfrm>
              <a:prstGeom prst="rect">
                <a:avLst/>
              </a:prstGeom>
              <a:blipFill>
                <a:blip r:embed="rId3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3412660"/>
                <a:ext cx="11274552" cy="118140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(3)</a:t>
                </a: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延长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至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F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𝐴𝐹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=12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AF=AC=12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⁠，则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𝐵𝐹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𝐴𝐹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=7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BF=AF-AB=7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𝐶𝐹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=12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CF=√(2) AC=12√(2)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𝐵𝐴𝐶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𝐵𝐷𝐶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90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∠BAC=∠BDC=90^∘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⁠，故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D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四点共圆，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𝐴𝐷𝐵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𝐴𝐶𝐵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∠ADB=∠ACB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⁠；结合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𝐷𝐴𝐵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𝐶𝐹𝐵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∠DAB=∠CFB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构造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𝐴𝐷𝐵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∽△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𝐹𝐶𝐵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△ADB∽△FCB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⁠，得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𝐴𝐷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𝐹𝐵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𝐹𝐶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(AD)/(FB)=(AC)/(FC)=(√(2))/2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⁠，所以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×7=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7</m:t>
                            </m:r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AD=(√(2))/2×7=(7√(2))/2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12660"/>
                <a:ext cx="11274552" cy="1181404"/>
              </a:xfrm>
              <a:prstGeom prst="rect">
                <a:avLst/>
              </a:prstGeom>
              <a:blipFill>
                <a:blip r:embed="rId4"/>
                <a:stretch>
                  <a:fillRect l="-562" r="-2137" b="-202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4703792"/>
                <a:ext cx="11274552" cy="808939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替代思路</a:t>
                </a: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：以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BC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为斜边、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D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同侧的等腰直角三角形中，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D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到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BC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的距离为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𝐵𝐶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(BC)/2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⁠，可用坐标法（以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BC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中点为原点）直接算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𝐴𝐷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AD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⁠，结果一致。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703792"/>
                <a:ext cx="11274552" cy="808939"/>
              </a:xfrm>
              <a:prstGeom prst="rect">
                <a:avLst/>
              </a:prstGeom>
              <a:blipFill>
                <a:blip r:embed="rId5"/>
                <a:stretch>
                  <a:fillRect l="-562" r="-2137" b="-46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第五部分　压轴题拆解（续）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52/68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通用三步法与易错位置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10791"/>
            <a:ext cx="11274552" cy="65328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认模型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：看到”共顶点的两个等腰（等边、等腰直角）三角形”立即想手拉手——旋转角相等、夹角相等，两三角形全等或相似（此模型在 自编测试二-25、巩固培优卷-23、模拟卷三-24、模拟卷四-24 反复出现）。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3807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列链路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：全等/相似把分散线段接到同一个直角三角形里，用勾股收口。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2742183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 marL="342900" indent="-342900">
                  <a:lnSpc>
                    <a:spcPct val="115000"/>
                  </a:lnSpc>
                  <a:spcAft>
                    <a:spcPts val="300"/>
                  </a:spcAft>
                  <a:buFont typeface="Arial"/>
                  <a:buChar char="•"/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防三坑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：旋转角写错方向（图 2 与图 3 位置不同）；“延长”的方向决定线段和差（延长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还是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𝐵𝐴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结果差一个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2AB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⁠）；四点共圆不能直接引用时改用”同角的补角相等”过渡。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42183"/>
                <a:ext cx="11274552" cy="706120"/>
              </a:xfrm>
              <a:prstGeom prst="rect">
                <a:avLst/>
              </a:prstGeom>
              <a:blipFill>
                <a:blip r:embed="rId2"/>
                <a:stretch>
                  <a:fillRect l="-562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第六部分　跨卷重复命题”母题”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53/68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65328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抛物线上三点比大小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（8 卷 10 处）：新题型模拟卷-1/6、学易金卷-3、自测卷二-3/13、自编测试二-4、金考模拟卷-2、模拟卷三-6、巩固培优卷-4、自编测试卷-11——“离对称轴距离”一招通吃。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805431"/>
                <a:ext cx="11274552" cy="85648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 marL="342900" indent="-342900">
                  <a:lnSpc>
                    <a:spcPct val="115000"/>
                  </a:lnSpc>
                  <a:spcAft>
                    <a:spcPts val="300"/>
                  </a:spcAft>
                  <a:buFont typeface="Arial"/>
                  <a:buChar char="•"/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黄金分割求线段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（7 卷 8 处）：新题型模拟卷-4、金考仿真卷-4/12、金考模拟卷-10、自编测试卷-12、期中自测卷-4、自测卷二-11、学易金卷-12——全部只考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(√(5)-1)/2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的正用与逆用。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05431"/>
                <a:ext cx="11274552" cy="856488"/>
              </a:xfrm>
              <a:prstGeom prst="rect">
                <a:avLst/>
              </a:prstGeom>
              <a:blipFill>
                <a:blip r:embed="rId2"/>
                <a:stretch>
                  <a:fillRect l="-562" t="-14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771647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 marL="342900" indent="-342900">
                  <a:lnSpc>
                    <a:spcPct val="115000"/>
                  </a:lnSpc>
                  <a:spcAft>
                    <a:spcPts val="300"/>
                  </a:spcAft>
                  <a:buFont typeface="Arial"/>
                  <a:buChar char="•"/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二次函数定义识别与求参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（全部 11 卷）：每卷第一、二题几乎固定为”判断是否二次函数＋由定义求参数”，两个条件（指数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=2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⁠、系数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≠0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≠0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⁠）是唯一考点。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71647"/>
                <a:ext cx="11274552" cy="706120"/>
              </a:xfrm>
              <a:prstGeom prst="rect">
                <a:avLst/>
              </a:prstGeom>
              <a:blipFill>
                <a:blip r:embed="rId3"/>
                <a:stretch>
                  <a:fillRect l="-562" t="-1786" b="-17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3587495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 marL="342900" indent="-342900">
                  <a:lnSpc>
                    <a:spcPct val="115000"/>
                  </a:lnSpc>
                  <a:spcAft>
                    <a:spcPts val="300"/>
                  </a:spcAft>
                  <a:buFont typeface="Arial"/>
                  <a:buChar char="•"/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平行线分线段成比例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（10 卷）：金考仿真卷-11/16、新题型模拟卷-12、金考模拟卷-20/22、模拟卷三-11、自测卷二-16 等，全部是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字、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8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字与”三次平行线”三个图形。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87495"/>
                <a:ext cx="11274552" cy="706120"/>
              </a:xfrm>
              <a:prstGeom prst="rect">
                <a:avLst/>
              </a:prstGeom>
              <a:blipFill>
                <a:blip r:embed="rId4"/>
                <a:stretch>
                  <a:fillRect l="-562" t="-1786" b="-17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4403343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 marL="342900" indent="-342900">
                  <a:lnSpc>
                    <a:spcPct val="115000"/>
                  </a:lnSpc>
                  <a:spcAft>
                    <a:spcPts val="300"/>
                  </a:spcAft>
                  <a:buFont typeface="Arial"/>
                  <a:buChar char="•"/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抛物线与</a:t>
                </a:r>
                <a:r>
                  <a:rPr lang="zh-CN" sz="1600" b="1">
                    <a:solidFill>
                      <a:srgbClr val="1A2230"/>
                    </a:solidFill>
                    <a:latin typeface="微软雅黑"/>
                    <a:ea typeface="微软雅黑"/>
                  </a:rPr>
                  <a:t>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</a:t>
                    </a:r>
                  </mc:Fallback>
                </mc:AlternateContent>
                <a:r>
                  <a:rPr lang="zh-CN" sz="1600" b="1">
                    <a:solidFill>
                      <a:srgbClr val="1A2230"/>
                    </a:solidFill>
                    <a:latin typeface="微软雅黑"/>
                    <a:ea typeface="微软雅黑"/>
                  </a:rPr>
                  <a:t> </a:t>
                </a: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轴交点＋根与系数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（5 卷 7 处）：金考模拟卷-15/17、金考仿真卷-8、学易金卷-17/20、自测卷二-10、巩固培优卷-10 聚焦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Δ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Δ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与弦长公式。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403343"/>
                <a:ext cx="11274552" cy="706120"/>
              </a:xfrm>
              <a:prstGeom prst="rect">
                <a:avLst/>
              </a:prstGeom>
              <a:blipFill>
                <a:blip r:embed="rId5"/>
                <a:stretch>
                  <a:fillRect l="-562" b="-35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第六部分　跨卷重复命题”母题”（续）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54/68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65328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销售利润／经营建模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（4 卷）：新题型模拟卷-23、金考仿真卷-20、模拟卷四-18、巩固培优卷-20 同构——“单价变动→销量变动→分段约束→顶点是否在区间内”。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5431"/>
            <a:ext cx="11274552" cy="65328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网格位似</a:t>
            </a: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（6 卷）：学易金卷-9/19、模拟卷四-21/23、金考仿真卷-21、自测卷二-9、新题型模拟卷-10——位似中心不在原点时的对应点连线交点是唯一难点。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568447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 marL="342900" indent="-342900">
                  <a:lnSpc>
                    <a:spcPct val="115000"/>
                  </a:lnSpc>
                  <a:spcAft>
                    <a:spcPts val="300"/>
                  </a:spcAft>
                  <a:buFont typeface="Arial"/>
                  <a:buChar char="•"/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抛物线实际应用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（7 卷）：大桥主塔、跨江大桥警示灯、拱桥挂灯笼、铅球落地、实心球投掷、充电站运营——全部是”建系→设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y=a(x-h)^2+k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→代点→回答实际问题”。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568447"/>
                <a:ext cx="11274552" cy="706120"/>
              </a:xfrm>
              <a:prstGeom prst="rect">
                <a:avLst/>
              </a:prstGeom>
              <a:blipFill>
                <a:blip r:embed="rId2"/>
                <a:stretch>
                  <a:fillRect l="-562" t="-1786" r="-112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57200" y="3384295"/>
            <a:ext cx="11274552" cy="65328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这些母题的重复度说明：九年级上学期期中的命题结构高度稳定，把上述八类做熟，等于覆盖了绝大多数题目的”骨架”。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第七部分　易错点与陷阱清单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55/68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457200" y="1042415"/>
              <a:ext cx="11274549" cy="321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34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4666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197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96386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69080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序号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易错点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典型错误表现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正确方法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题目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853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二次函数定义漏验系数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只令指数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⁠，不查系数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≠0</m:t>
                              </m:r>
                            </m:oMath>
                          </a14:m>
                          <a:endParaRPr lang="zh-CN" sz="1200">
                            <a:solidFill>
                              <a:srgbClr val="1A2230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解指数方程后代回系数检验，舍去使系数为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的根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模拟卷四-6、自测卷二-6、金考仿真卷-1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7853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2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周长比与面积比混用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把面积比当相似比（或忘记开方）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面积比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相似比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⁠；周长比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相似比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自编测试二-3、金考模拟卷-3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3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比例对应段错位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用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𝐴𝐷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𝐷𝐵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比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𝐷𝐸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𝐵𝐶</m:t>
                              </m:r>
                            </m:oMath>
                          </a14:m>
                          <a:endParaRPr lang="zh-CN" sz="1200">
                            <a:solidFill>
                              <a:srgbClr val="1A2230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先写完整比例式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𝐴𝐷</m:t>
                                  </m:r>
                                </m:num>
                                <m:den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den>
                              </m:f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𝐷𝐸</m:t>
                                  </m:r>
                                </m:num>
                                <m:den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𝐵𝐶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再代数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金考仿真卷-11、新题型模拟卷-12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4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黄金分割两解遗漏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默认分割点只有一处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画线段标出两个黄金分割点，分”较长段/较短段”两解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金考仿真卷-12、学易金卷-12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5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比例尺单位换算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i="0"/>
                                <m:t>cm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m:rPr>
                                  <m:nor/>
                                </m:rPr>
                                <a:rPr i="0"/>
                                <m:t>km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少乘或多乘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zh-CN" sz="1200">
                            <a:solidFill>
                              <a:srgbClr val="1A2230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统一化成 cm 再除比例尺分母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新题型模拟卷-11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7853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6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平移方向记反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“左加右减”用错对象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平移针对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本身：左移加、右移减；上下移加在常数项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新题型模拟卷-8、学易金卷-7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7853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7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三点比大小不看开口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距离比较后不等号方向写反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先定开口方向：向上离轴远值大，向下离轴远值小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新题型模拟卷-1、自测卷二-13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457200" y="1042415"/>
              <a:ext cx="11274549" cy="321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34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4666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197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96386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69080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序号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易错点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典型错误表现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正确方法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题目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853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二次函数定义漏验系数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70561" t="-60526" r="-245327" b="-51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116987" t="-60526" r="-68269" b="-51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模拟卷四-6、自测卷二-6、金考仿真卷-1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7853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2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周长比与面积比混用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把面积比当相似比（或忘记开方）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116987" t="-160526" r="-68269" b="-41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自编测试二-3、金考模拟卷-3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7800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3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比例对应段错位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70561" t="-300000" r="-245327" b="-38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116987" t="-300000" r="-68269" b="-38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金考仿真卷-11、新题型模拟卷-12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4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黄金分割两解遗漏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默认分割点只有一处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画线段标出两个黄金分割点，分”较长段/较短段”两解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金考仿真卷-12、学易金卷-12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3944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5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比例尺单位换算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70561" t="-645833" r="-245327" b="-32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统一化成 cm 再除比例尺分母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新题型模拟卷-11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7853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6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平移方向记反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“左加右减”用错对象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116987" t="-471053" r="-68269" b="-1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新题型模拟卷-8、学易金卷-7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7853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7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三点比大小不看开口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距离比较后不等号方向写反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先定开口方向：向上离轴远值大，向下离轴远值小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新题型模拟卷-1、自测卷二-13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第七部分　易错点与陷阱清单（续）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56/68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457200" y="1042415"/>
              <a:ext cx="11274550" cy="30904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28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838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5880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87114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40789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序号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易错点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典型错误表现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正确方法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题目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853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8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系数符号判读缺桥梁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直接猜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⁠、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符号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第一步永远是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对称轴，代换后逐条验证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自编测试二-14、金考仿真卷-18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7853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9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图象法解不等式丢端点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交点坐标不取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“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”“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”含等号，交点必在解集内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金考仿真卷-7、模拟卷四-22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10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恒成立漏”等号”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只写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oMath>
                          </a14:m>
                          <a:endParaRPr lang="zh-CN" sz="1200">
                            <a:solidFill>
                              <a:srgbClr val="1A2230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“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恒成立”用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⁠；注意判别式为完全平方式的特例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新题型模拟卷-6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11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动点相似单分类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只写一种对应顺序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“相似”不给对应顶点时必须分两类各自解方程并验范围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金考仿真卷-6、自编测试二-24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12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利润最值不看约束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直接答顶点横坐标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先由利润率/范围定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的区间，再比对称轴与区间位置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新题型模拟卷-23、模拟卷四-18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7853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13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实际测量忘加仪器高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直接把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距离当杆高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旗杆高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眼睛高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水平距离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期中自测卷二-15、自编测试二-22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7853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14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坡度概念误用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把坡度当坡角或坡长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坡度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竖直高度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 水平宽度 </a:t>
                          </a:r>
                          <a14:m>
                            <m:oMath xmlns:m="http://schemas.openxmlformats.org/officeDocument/2006/math"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⁠，坡长用勾股定理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新题型模拟卷-14/22、自编测试卷-19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457200" y="1042415"/>
              <a:ext cx="11274550" cy="30904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28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838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5880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87114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40789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序号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易错点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典型错误表现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正确方法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 b="1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题目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5F7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853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8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系数符号判读缺桥梁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85882" t="-60526" r="-337647" b="-49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82507" t="-60526" r="-49869" b="-49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自编测试二-14、金考仿真卷-18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7853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9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图象法解不等式丢端点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交点坐标不取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82507" t="-160526" r="-49869" b="-39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金考仿真卷-7、模拟卷四-22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089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10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恒成立漏”等号”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85882" t="-412500" r="-337647" b="-520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82507" t="-412500" r="-49869" b="-520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新题型模拟卷-6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041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11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动点相似单分类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只写一种对应顺序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“相似”不给对应顶点时必须分两类各自解方程并验范围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金考仿真卷-6、自编测试二-24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4610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12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利润最值不看约束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直接答顶点横坐标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82507" t="-604167" r="-49869" b="-32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新题型模拟卷-23、模拟卷四-18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7853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13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实际测量忘加仪器高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85882" t="-444737" r="-337647" b="-1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82507" t="-444737" r="-49869" b="-1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期中自测卷二-15、自编测试二-22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7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78536"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14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坡度概念误用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把坡度当坡角或坡长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blipFill>
                          <a:blip r:embed="rId2"/>
                          <a:stretch>
                            <a:fillRect l="-82507" t="-544737" r="-49869" b="-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200">
                              <a:solidFill>
                                <a:srgbClr val="1A2230"/>
                              </a:solidFill>
                              <a:latin typeface="微软雅黑"/>
                              <a:ea typeface="微软雅黑"/>
                            </a:rPr>
                            <a:t>新题型模拟卷-14/22、自编测试卷-19</a:t>
                          </a:r>
                        </a:p>
                      </a:txBody>
                      <a:tcPr marL="54864" marR="54864" marT="18288" marB="18288" anchor="ctr">
                        <a:lnL w="9525" cap="flat">
                          <a:solidFill>
                            <a:srgbClr val="D6DCE5"/>
                          </a:solidFill>
                        </a:lnL>
                        <a:lnR w="9525" cap="flat">
                          <a:solidFill>
                            <a:srgbClr val="D6DCE5"/>
                          </a:solidFill>
                        </a:lnR>
                        <a:lnT w="9525" cap="flat">
                          <a:solidFill>
                            <a:srgbClr val="D6DCE5"/>
                          </a:solidFill>
                        </a:lnT>
                        <a:lnB w="9525" cap="flat">
                          <a:solidFill>
                            <a:srgbClr val="D6DC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　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57/68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 1（★★，改编自 金考仿真卷 第 12 题）黄金分割两解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线段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=6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AB=6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是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的黄金分割点且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𝑃𝐵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AP&gt;PB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⁠，求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𝑃𝐵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AP-PB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的长。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385064"/>
              </a:xfrm>
              <a:prstGeom prst="rect">
                <a:avLst/>
              </a:prstGeom>
              <a:blipFill>
                <a:blip r:embed="rId2"/>
                <a:stretch>
                  <a:fillRect l="-675" t="-3226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1950719"/>
                <a:ext cx="11274552" cy="46024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−12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6√(5)-12</a:t>
                    </a:r>
                  </mc:Fallback>
                </mc:AlternateContent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50719"/>
                <a:ext cx="11274552" cy="460248"/>
              </a:xfrm>
              <a:prstGeom prst="rect">
                <a:avLst/>
              </a:prstGeom>
              <a:blipFill>
                <a:blip r:embed="rId3"/>
                <a:stretch>
                  <a:fillRect l="-675"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2520695"/>
                <a:ext cx="11274552" cy="46024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解析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×6=3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−3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AP=(√(5)-1)/2×6=3√(5)-3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=9−3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PB=AB-AP=9-3√(5)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𝑃𝐵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=6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−12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AP-PB=6√(5)-12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520695"/>
                <a:ext cx="11274552" cy="460248"/>
              </a:xfrm>
              <a:prstGeom prst="rect">
                <a:avLst/>
              </a:prstGeom>
              <a:blipFill>
                <a:blip r:embed="rId4"/>
                <a:stretch>
                  <a:fillRect l="-675" b="-243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3090671"/>
                <a:ext cx="11274552" cy="46024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易错：只算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𝐴𝑃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AP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不作差；</a:t>
                </a:r>
                <mc:AlternateContent>
                  <mc:Choice Requires="a14">
                    <a14:m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≈2.236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√(5)≈2.236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可验算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1.416×2≈2.83=6×0.472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1.416×2≈2.83=6×0.472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合理。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090671"/>
                <a:ext cx="11274552" cy="460248"/>
              </a:xfrm>
              <a:prstGeom prst="rect">
                <a:avLst/>
              </a:prstGeom>
              <a:blipFill>
                <a:blip r:embed="rId5"/>
                <a:stretch>
                  <a:fillRect l="-675"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　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58/68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 2（★★★，同考点原创题）比例中项计数（缩小版）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⋯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9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这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9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个整数中，每次取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个不同的数组成有序数组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(a,b,c)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的比例中项，求不同数组个数。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706120"/>
              </a:xfrm>
              <a:prstGeom prst="rect">
                <a:avLst/>
              </a:prstGeom>
              <a:blipFill>
                <a:blip r:embed="rId2"/>
                <a:stretch>
                  <a:fillRect l="-675" t="-1754" r="-2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271775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8</a:t>
                    </a:r>
                  </mc:Fallback>
                </mc:AlternateContent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71775"/>
                <a:ext cx="11274552" cy="385064"/>
              </a:xfrm>
              <a:prstGeom prst="rect">
                <a:avLst/>
              </a:prstGeom>
              <a:blipFill>
                <a:blip r:embed="rId3"/>
                <a:stretch>
                  <a:fillRect l="-675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2766567"/>
                <a:ext cx="11274552" cy="1348232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解析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：逐个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枚举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𝑎𝑐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b^2=ac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a≠c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⁠，均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≤9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≤9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b=2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(1,4)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(1,4)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(4,1)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(4,1)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组；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b=3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(1,9)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(1,9)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(9,1)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(9,1)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组；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b=4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(2,8)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(2,8)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(8,2)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(8,2)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组；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=6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b=6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(4,9)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(4,9)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(9,4)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(9,4)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组；其余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无解。共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8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组。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66567"/>
                <a:ext cx="11274552" cy="1348232"/>
              </a:xfrm>
              <a:prstGeom prst="rect">
                <a:avLst/>
              </a:prstGeom>
              <a:blipFill>
                <a:blip r:embed="rId4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4224527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(b,b,b)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因”三个数不同”必须排除；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=5,7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b=5,7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b^2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只能分解出含自身的因子对。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224527"/>
                <a:ext cx="11274552" cy="385064"/>
              </a:xfrm>
              <a:prstGeom prst="rect">
                <a:avLst/>
              </a:prstGeom>
              <a:blipFill>
                <a:blip r:embed="rId5"/>
                <a:stretch>
                  <a:fillRect l="-675" b="-161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　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59/68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 3（★★，改编自 金考模拟卷 第 22 题）平行截线两问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125272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△ABC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中，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D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𝐷𝐸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DE∥BC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交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AD=4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𝐷𝐵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=6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DB=6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𝐷𝐸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DE=3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⁠。(1) 求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⁠；(2) 过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作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𝐸𝐹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EF∥AB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交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F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⁠，求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𝐴𝐸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𝐸𝐶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(AE)/(EC)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1252728"/>
              </a:xfrm>
              <a:prstGeom prst="rect">
                <a:avLst/>
              </a:prstGeom>
              <a:blipFill>
                <a:blip r:embed="rId2"/>
                <a:stretch>
                  <a:fillRect l="-675" t="-1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818383"/>
                <a:ext cx="11274552" cy="46024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答案：(1)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BC=(15)/2</a:t>
                    </a:r>
                  </mc:Fallback>
                </mc:AlternateContent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⁠；(2)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𝐴𝐸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𝐸𝐶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(AE)/(EC)=2/3</a:t>
                    </a:r>
                  </mc:Fallback>
                </mc:AlternateContent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818383"/>
                <a:ext cx="11274552" cy="460248"/>
              </a:xfrm>
              <a:prstGeom prst="rect">
                <a:avLst/>
              </a:prstGeom>
              <a:blipFill>
                <a:blip r:embed="rId3"/>
                <a:stretch>
                  <a:fillRect l="-675" b="-131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3388359"/>
                <a:ext cx="11274552" cy="85648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解析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：(1)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𝐴𝐷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𝐷𝐸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𝐵𝐶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(AD)/(AB)=(DE)/(BC)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𝐵𝐶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4/(10)=3/(BC)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BC=(15)/2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⁠。(2)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𝐷𝐸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DE∥BC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得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𝐴𝐸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𝐸𝐶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𝐴𝐷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𝐷𝐵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(AE)/(EC)=(AD)/(DB)=4/6=2/3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𝐸𝐹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EF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条件用于第二证法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𝐵𝐹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𝐹𝐶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𝐴𝐸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𝐸𝐶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(BF)/(FC)=(AE)/(EC)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⁠，结果一致）。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388359"/>
                <a:ext cx="11274552" cy="856488"/>
              </a:xfrm>
              <a:prstGeom prst="rect">
                <a:avLst/>
              </a:prstGeom>
              <a:blipFill>
                <a:blip r:embed="rId4"/>
                <a:stretch>
                  <a:fillRect l="-675" r="-23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57200" y="435457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易错：(2) 不需要新数据，平行即出比例。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　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60/68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 4（★★，改编自 金考仿真卷 第 1 题）二次函数定义舍根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若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−1)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−1)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y=(m^2-1)x^(m^2+m)+(m-1)x+2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是二次函数，求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的值。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385064"/>
              </a:xfrm>
              <a:prstGeom prst="rect">
                <a:avLst/>
              </a:prstGeom>
              <a:blipFill>
                <a:blip r:embed="rId2"/>
                <a:stretch>
                  <a:fillRect l="-675" b="-22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1950719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=−2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m=-2</a:t>
                    </a:r>
                  </mc:Fallback>
                </mc:AlternateContent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50719"/>
                <a:ext cx="11274552" cy="385064"/>
              </a:xfrm>
              <a:prstGeom prst="rect">
                <a:avLst/>
              </a:prstGeom>
              <a:blipFill>
                <a:blip r:embed="rId3"/>
                <a:stretch>
                  <a:fillRect l="-675" b="-161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2445511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解析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m^2+m=2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⁠，即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−1)(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+2)=0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(m-1)(m+2)=0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m=1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或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m=-2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⁠；检验系数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−1≠0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m^2-1≠0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m=1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使系数为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舍去，故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m=-2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445511"/>
                <a:ext cx="11274552" cy="706120"/>
              </a:xfrm>
              <a:prstGeom prst="rect">
                <a:avLst/>
              </a:prstGeom>
              <a:blipFill>
                <a:blip r:embed="rId4"/>
                <a:stretch>
                  <a:fillRect l="-675"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57200" y="3261359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易错：两条件顺序——先解指数再验系数，最后必须回代。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　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61/68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 5（★★，改编自 新题型模拟卷 第 1 题）开口向下的三点比较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抛物线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=−(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−2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y=-(x-2)^2+3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上有三点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(−1,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A(-1,y_1)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(3,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B(3,y_2)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(4,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C(4,y_3)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⁠，比较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y_1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y_2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y_3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的大小。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706120"/>
              </a:xfrm>
              <a:prstGeom prst="rect">
                <a:avLst/>
              </a:prstGeom>
              <a:blipFill>
                <a:blip r:embed="rId2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271775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y_2&gt;y_3&gt;y_1</a:t>
                    </a:r>
                  </mc:Fallback>
                </mc:AlternateContent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71775"/>
                <a:ext cx="11274552" cy="385064"/>
              </a:xfrm>
              <a:prstGeom prst="rect">
                <a:avLst/>
              </a:prstGeom>
              <a:blipFill>
                <a:blip r:embed="rId3"/>
                <a:stretch>
                  <a:fillRect l="-675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2766567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解析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：对称轴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x=2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⁠，开口向下，离对称轴越近值越大。距离分别为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⁠，故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y_2&gt;y_3&gt;y_1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66567"/>
                <a:ext cx="11274552" cy="706120"/>
              </a:xfrm>
              <a:prstGeom prst="rect">
                <a:avLst/>
              </a:prstGeom>
              <a:blipFill>
                <a:blip r:embed="rId4"/>
                <a:stretch>
                  <a:fillRect l="-675" t="-1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57200" y="358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易错：开口向下时不等号与”距离大小”同序（近大远小），与开口向上相反。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　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62/68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 6（★★★，改编自 金考模拟卷 第 15 题）韦达定理算弦长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已知抛物线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−(2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+1)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y=x^2-(2m+1)x+m^2+2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轴交于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两点，且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AB=1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⁠，求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的值。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706120"/>
              </a:xfrm>
              <a:prstGeom prst="rect">
                <a:avLst/>
              </a:prstGeom>
              <a:blipFill>
                <a:blip r:embed="rId2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271775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m=2</a:t>
                    </a:r>
                  </mc:Fallback>
                </mc:AlternateContent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71775"/>
                <a:ext cx="11274552" cy="385064"/>
              </a:xfrm>
              <a:prstGeom prst="rect">
                <a:avLst/>
              </a:prstGeom>
              <a:blipFill>
                <a:blip r:embed="rId3"/>
                <a:stretch>
                  <a:fillRect l="-675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2766567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解析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x_1+x_2=2m+1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x_1x_2=m^2+2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=(2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−4(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+2)=4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−7=1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(x_1-x_2)^2=(2m+1)^2-4(m^2+2)=4m-7=1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m=2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⁠。检验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=(5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−4×6=1&gt;0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Δ=(5)^2-4×6=1&gt;0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合法。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66567"/>
                <a:ext cx="11274552" cy="706120"/>
              </a:xfrm>
              <a:prstGeom prst="rect">
                <a:avLst/>
              </a:prstGeom>
              <a:blipFill>
                <a:blip r:embed="rId4"/>
                <a:stretch>
                  <a:fillRect l="-675"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3582415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=|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AB=|x_1-x_2|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平方后是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不是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-1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⁠；求出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要回验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Δ&gt;0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82415"/>
                <a:ext cx="11274552" cy="385064"/>
              </a:xfrm>
              <a:prstGeom prst="rect">
                <a:avLst/>
              </a:prstGeom>
              <a:blipFill>
                <a:blip r:embed="rId5"/>
                <a:stretch>
                  <a:fillRect l="-675" t="-3226" b="-96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　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63/68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 7（★★★★，同考点原创题）恒成立求参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已知抛物线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−(2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+1)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y_1=x^2-(2m+1)x+m^2+m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⁠，直线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y_2=x+2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⁠，若对任意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都有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y_1≥y_2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成立，求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的取值范围。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706120"/>
              </a:xfrm>
              <a:prstGeom prst="rect">
                <a:avLst/>
              </a:prstGeom>
              <a:blipFill>
                <a:blip r:embed="rId2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271775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≤−3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m≤-3</a:t>
                    </a:r>
                  </mc:Fallback>
                </mc:AlternateContent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71775"/>
                <a:ext cx="11274552" cy="385064"/>
              </a:xfrm>
              <a:prstGeom prst="rect">
                <a:avLst/>
              </a:prstGeom>
              <a:blipFill>
                <a:blip r:embed="rId3"/>
                <a:stretch>
                  <a:fillRect l="-675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2766567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解析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−(2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+2)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y_1-y_2=x^2-(2m+2)x+m^2+m-2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⁠，恒非负需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≤0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Δ≤0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+2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−4(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−2)=4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+12≤0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(2m+2)^2-4(m^2+m-2)=4m+12≤0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≤−3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m≤-3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66567"/>
                <a:ext cx="11274552" cy="706120"/>
              </a:xfrm>
              <a:prstGeom prst="rect">
                <a:avLst/>
              </a:prstGeom>
              <a:blipFill>
                <a:blip r:embed="rId4"/>
                <a:stretch>
                  <a:fillRect l="-675"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3582415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易错：差式一次项系数含参时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Δ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Δ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化简别跳步；“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≥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恒成立”对应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≤0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Δ≤0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含等号。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82415"/>
                <a:ext cx="11274552" cy="385064"/>
              </a:xfrm>
              <a:prstGeom prst="rect">
                <a:avLst/>
              </a:prstGeom>
              <a:blipFill>
                <a:blip r:embed="rId5"/>
                <a:stretch>
                  <a:fillRect l="-675" b="-96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　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64/68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 8（★★★，同考点原创题）斜向平移双解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将抛物线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y=x^2+2x+3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沿直线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y=x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方向平移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个单位，求平移后的解析式。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385064"/>
              </a:xfrm>
              <a:prstGeom prst="rect">
                <a:avLst/>
              </a:prstGeom>
              <a:blipFill>
                <a:blip r:embed="rId2"/>
                <a:stretch>
                  <a:fillRect l="-675" b="-161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1950719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+4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y=(x-1)^2+4</a:t>
                    </a:r>
                  </mc:Fallback>
                </mc:AlternateContent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 或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+3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y=(x+3)^2</a:t>
                    </a:r>
                  </mc:Fallback>
                </mc:AlternateContent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50719"/>
                <a:ext cx="11274552" cy="385064"/>
              </a:xfrm>
              <a:prstGeom prst="rect">
                <a:avLst/>
              </a:prstGeom>
              <a:blipFill>
                <a:blip r:embed="rId3"/>
                <a:stretch>
                  <a:fillRect l="-675" b="-161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2445511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解析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：原顶点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(−1,2)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(-1,2)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y=x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方向平移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个单位即横、纵坐标各加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或各减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⁠：新顶点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(1,4)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(1,4)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或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(−3,0)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(-3,0)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⁠，故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+4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y=(x-1)^2+4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或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+3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y=(x+3)^2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445511"/>
                <a:ext cx="11274552" cy="706120"/>
              </a:xfrm>
              <a:prstGeom prst="rect">
                <a:avLst/>
              </a:prstGeom>
              <a:blipFill>
                <a:blip r:embed="rId4"/>
                <a:stretch>
                  <a:fillRect l="-675" t="-1754"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57200" y="3261359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>
                <a:solidFill>
                  <a:srgbClr val="1A2230"/>
                </a:solidFill>
                <a:latin typeface="微软雅黑"/>
                <a:ea typeface="微软雅黑"/>
              </a:rPr>
              <a:t>易错：只写右上方一个方向；“沿直线方向”平移允许两个相反方向。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　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65/68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 9（★★★★，改编自 自编测试二 第 25 题）手拉手旋转证明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102717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等边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△ABC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与等边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𝐴𝐷𝐸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△ADE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有公共顶点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𝐴𝐷𝐸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△ADE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绕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旋转，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D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均不落在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△ABC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内部），连接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𝐵𝐷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BD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交于点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⁠。(1) 求证：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BD=CE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⁠；(2) 求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𝐵𝐷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BD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𝐶𝐸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CE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所成的锐角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𝐵𝑃𝐶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∠BPC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的度数。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1027176"/>
              </a:xfrm>
              <a:prstGeom prst="rect">
                <a:avLst/>
              </a:prstGeom>
              <a:blipFill>
                <a:blip r:embed="rId2"/>
                <a:stretch>
                  <a:fillRect l="-675" t="-1220" r="-4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592831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答案：(1) 见解析；(2)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60^∘</a:t>
                    </a:r>
                  </mc:Fallback>
                </mc:AlternateContent>
                <a:endParaRPr lang="zh-CN" sz="1600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592831"/>
                <a:ext cx="11274552" cy="385064"/>
              </a:xfrm>
              <a:prstGeom prst="rect">
                <a:avLst/>
              </a:prstGeom>
              <a:blipFill>
                <a:blip r:embed="rId3"/>
                <a:stretch>
                  <a:fillRect l="-675" b="-161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3087623"/>
                <a:ext cx="11274552" cy="102717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解析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：(1)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AB=AC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AD=AE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𝐵𝐴𝐷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𝐵𝐴𝐸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𝐶𝐴𝐸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∠BAD=60^∘-∠BAE=∠CAE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⁠，故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≅△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𝐴𝐶𝐸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△ABD≅△ACE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（SAS），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BD=CE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⁠。(2) 由全等得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𝐴𝐶𝐸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∠ABP=∠ACE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⁠；在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𝐴𝐵𝑃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△ABP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𝐺𝐶𝑃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△GCP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G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𝐴𝐶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AC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𝐵𝑃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BP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交点）的”8 字”中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𝐵𝑃𝐶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180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𝐴𝐶𝐸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𝐺𝑃𝐶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𝐵𝐴𝐶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∠BPC=180^∘-∠ACE-∠GPC=∠BAC=60^∘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087623"/>
                <a:ext cx="11274552" cy="1027176"/>
              </a:xfrm>
              <a:prstGeom prst="rect">
                <a:avLst/>
              </a:prstGeom>
              <a:blipFill>
                <a:blip r:embed="rId4"/>
                <a:stretch>
                  <a:fillRect l="-675" b="-24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4224527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易错：旋转角写错（应为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𝐵𝐴𝐷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𝐶𝐴𝐸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∠BAD=∠CAE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而非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𝐵𝐴𝐸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∠BAE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⁠）；夹角结论是”等于旋转中心的顶角”。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224527"/>
                <a:ext cx="11274552" cy="385064"/>
              </a:xfrm>
              <a:prstGeom prst="rect">
                <a:avLst/>
              </a:prstGeom>
              <a:blipFill>
                <a:blip r:embed="rId5"/>
                <a:stretch>
                  <a:fillRect l="-675" t="-3226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　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66/68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40969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504" b="1">
                <a:solidFill>
                  <a:srgbClr val="3E6FC9"/>
                </a:solidFill>
                <a:latin typeface="微软雅黑"/>
                <a:ea typeface="微软雅黑"/>
              </a:rPr>
              <a:t>变式 10（★★★★，改编自 期中模拟卷四 第 24 题）矩形动点相似存在性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38248"/>
                <a:ext cx="11274552" cy="969385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矩形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𝐴𝐵𝐶𝐷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ABCD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中，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AB=4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AD=3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在对角线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𝐵𝐷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BD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上（不与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D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重合），过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作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⟂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PE⟂AB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E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⁠，连接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𝐴𝑃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AP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⁠。是否存在点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𝐴𝑃𝐸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△APE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𝐴𝐵𝐷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△ABD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相似？若存在，求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𝐴𝑃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AP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的长。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38248"/>
                <a:ext cx="11274552" cy="969385"/>
              </a:xfrm>
              <a:prstGeom prst="rect">
                <a:avLst/>
              </a:prstGeom>
              <a:blipFill>
                <a:blip r:embed="rId2"/>
                <a:stretch>
                  <a:fillRect l="-5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517361"/>
                <a:ext cx="11274552" cy="436473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答案：存在，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AP=5/2</a:t>
                    </a:r>
                  </mc:Fallback>
                </mc:AlternateContent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 或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12</m:t>
                            </m:r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34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(12√(34))/(29)</a:t>
                    </a:r>
                  </mc:Fallback>
                </mc:AlternateContent>
                <a:endParaRPr lang="zh-CN" sz="1504" b="1">
                  <a:solidFill>
                    <a:srgbClr val="3E6FC9"/>
                  </a:solidFill>
                  <a:latin typeface="微软雅黑"/>
                  <a:ea typeface="微软雅黑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517361"/>
                <a:ext cx="11274552" cy="436473"/>
              </a:xfrm>
              <a:prstGeom prst="rect">
                <a:avLst/>
              </a:prstGeom>
              <a:blipFill>
                <a:blip r:embed="rId3"/>
                <a:stretch>
                  <a:fillRect l="-562" b="-28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3063562"/>
                <a:ext cx="11274552" cy="667593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解析</a:t>
                </a: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：建系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(0,0)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A(0,0)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(4,0)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B(4,0)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(0,3)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D(0,3)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𝐵𝐷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BD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(4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,3−3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P(4t,3-3t)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0&lt;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&lt;1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0&lt;t&lt;1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=4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AE=4t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⁠、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𝑃𝐸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=3−3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PE=3-3t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𝐴𝐸𝑃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𝐷𝐴𝐵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90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∠AEP=∠DAB=90^∘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⁠，两种对应：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063562"/>
                <a:ext cx="11274552" cy="667593"/>
              </a:xfrm>
              <a:prstGeom prst="rect">
                <a:avLst/>
              </a:prstGeom>
              <a:blipFill>
                <a:blip r:embed="rId4"/>
                <a:stretch>
                  <a:fillRect l="-562"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3840883"/>
                <a:ext cx="11274552" cy="436473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①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𝐴𝐸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𝑃𝐸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𝐴𝐷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(AE)/(AB)=(PE)/(AD)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t=1-t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t=1/2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AP=√(2^2+(3/2)^2)=5/2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840883"/>
                <a:ext cx="11274552" cy="436473"/>
              </a:xfrm>
              <a:prstGeom prst="rect">
                <a:avLst/>
              </a:prstGeom>
              <a:blipFill>
                <a:blip r:embed="rId5"/>
                <a:stretch>
                  <a:fillRect l="-562" b="-5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57200" y="4387084"/>
                <a:ext cx="11274552" cy="436473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②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𝐴𝐸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𝐴𝐷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𝑃𝐸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𝐵𝐷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(AE)/(AD)=(PE)/(BD)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⁠：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3−3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(4t)/3=(3-3t)/5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t=9/(29)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36</m:t>
                                        </m:r>
                                      </m:num>
                                      <m:den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29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60</m:t>
                                        </m:r>
                                      </m:num>
                                      <m:den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29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12</m:t>
                            </m:r>
                            <m:rad>
                              <m:radPr>
                                <m:degHide m:val="on"/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34</m:t>
                                </m:r>
                              </m:e>
                            </m:rad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AP=√(((36)/(29))^2+((60)/(29))^2)=(12√(34))/(29)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387084"/>
                <a:ext cx="11274552" cy="436473"/>
              </a:xfrm>
              <a:prstGeom prst="rect">
                <a:avLst/>
              </a:prstGeom>
              <a:blipFill>
                <a:blip r:embed="rId6"/>
                <a:stretch>
                  <a:fillRect l="-562" b="-5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57200" y="4933285"/>
                <a:ext cx="11274552" cy="36580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易错：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𝐴𝐵𝐷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△ABD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的直角在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A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𝐴𝑃𝐸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△APE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的直角在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a14:m>
                  </mc:Choice>
                  <mc:Fallback xmlns="">
                    <a:r>
                      <a:rPr lang="zh-CN" sz="1504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E</a:t>
                    </a:r>
                  </mc:Fallback>
                </mc:AlternateContent>
                <a:r>
                  <a:rPr lang="zh-CN" sz="1504">
                    <a:solidFill>
                      <a:srgbClr val="1A2230"/>
                    </a:solidFill>
                    <a:latin typeface="微软雅黑"/>
                    <a:ea typeface="微软雅黑"/>
                  </a:rPr>
                  <a:t> 对应，两组直角边对应顺序别固定成一种。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933285"/>
                <a:ext cx="11274552" cy="365800"/>
              </a:xfrm>
              <a:prstGeom prst="rect">
                <a:avLst/>
              </a:prstGeom>
              <a:blipFill>
                <a:blip r:embed="rId7"/>
                <a:stretch>
                  <a:fillRect l="-562"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　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67/68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 11（★★★，改编自 期中模拟卷四 第 18 题）利润最值取端点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102717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某商品进价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40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元/件，售价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60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60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元/件时每周可售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300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300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件；每降价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元，周销量增加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件。设售价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元（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52≤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≤60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52≤x≤60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⁠），周利润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w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元。(1) 求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w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与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的关系式；(2) 求最大周利润。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1027176"/>
              </a:xfrm>
              <a:prstGeom prst="rect">
                <a:avLst/>
              </a:prstGeom>
              <a:blipFill>
                <a:blip r:embed="rId2"/>
                <a:stretch>
                  <a:fillRect l="-675" t="-1220" r="-23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592831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答案：(1)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−40)(900−10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)=−10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+1300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−36000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w=(x-40)(900-10x)=-10x^2+1300x-36000</a:t>
                    </a:r>
                  </mc:Fallback>
                </mc:AlternateContent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52≤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≤60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52≤x≤60</a:t>
                    </a:r>
                  </mc:Fallback>
                </mc:AlternateContent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⁠）；(2) 最大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6000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6000</a:t>
                    </a:r>
                  </mc:Fallback>
                </mc:AlternateContent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 元（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=60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x=60</a:t>
                    </a:r>
                  </mc:Fallback>
                </mc:AlternateContent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⁠）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592831"/>
                <a:ext cx="11274552" cy="706120"/>
              </a:xfrm>
              <a:prstGeom prst="rect">
                <a:avLst/>
              </a:prstGeom>
              <a:blipFill>
                <a:blip r:embed="rId3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3408679"/>
                <a:ext cx="11274552" cy="102717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解析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：降价后销量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300+10(60−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300+10(60-x)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−40)(900−10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w=(x-40)(900-10x)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⁠，对称轴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=65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x=65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开口向下，区间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[52,60]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[52,60]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在对称轴左侧递增，故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=60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x=60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时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w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最大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=20×300=6000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=20×300=6000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元。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08679"/>
                <a:ext cx="11274552" cy="1027176"/>
              </a:xfrm>
              <a:prstGeom prst="rect">
                <a:avLst/>
              </a:prstGeom>
              <a:blipFill>
                <a:blip r:embed="rId4"/>
                <a:stretch>
                  <a:fillRect l="-675" t="-12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4545583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易错：对称轴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65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65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不在区间内，不能答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6250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6250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⁠；自变量范围由”售价与降价幅度”双重约束。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545583"/>
                <a:ext cx="11274552" cy="385064"/>
              </a:xfrm>
              <a:prstGeom prst="rect">
                <a:avLst/>
              </a:prstGeom>
              <a:blipFill>
                <a:blip r:embed="rId5"/>
                <a:stretch>
                  <a:fillRect l="-675" t="-3226" b="-96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7472"/>
            <a:ext cx="82296" cy="457200"/>
          </a:xfrm>
          <a:prstGeom prst="rect">
            <a:avLst/>
          </a:prstGeom>
          <a:solidFill>
            <a:srgbClr val="3E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37744"/>
            <a:ext cx="11064240" cy="676656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sz="2200" b="1">
                <a:solidFill>
                  <a:srgbClr val="1A237E"/>
                </a:solidFill>
                <a:latin typeface="微软雅黑"/>
                <a:ea typeface="微软雅黑"/>
              </a:rPr>
              <a:t>第八部分　AI 生成变式训练题库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4552" cy="1270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14232" y="6455664"/>
            <a:ext cx="301752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 algn="r"/>
            <a:r>
              <a:rPr lang="zh-CN" sz="1000">
                <a:solidFill>
                  <a:srgbClr val="8A93A6"/>
                </a:solidFill>
                <a:latin typeface="微软雅黑"/>
                <a:ea typeface="微软雅黑"/>
              </a:rPr>
              <a:t>Oli教室专用 · 68/68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74552" cy="358648"/>
          </a:xfrm>
          <a:prstGeom prst="rect">
            <a:avLst/>
          </a:prstGeom>
          <a:noFill/>
        </p:spPr>
        <p:txBody>
          <a:bodyPr wrap="square" lIns="54864" tIns="27432" rIns="54864" bIns="27432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zh-CN" sz="1600" b="1">
                <a:solidFill>
                  <a:srgbClr val="3E6FC9"/>
                </a:solidFill>
                <a:latin typeface="微软雅黑"/>
                <a:ea typeface="微软雅黑"/>
              </a:rPr>
              <a:t>变式 12（★★，改编自 新题型模拟卷 第 22 题）坡度与坡长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455927"/>
                <a:ext cx="11274552" cy="706120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无障碍坡道顶端高出地面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0.4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0.4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米，坡道坡度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=1:2.4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i=1:2.4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⁠。(1) 求坡道的水平长度与坡道长度；(2) 若坡道起点前需留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1.5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1.5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米平台，求从平台最外沿到坡道底端的水平总长度。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55927"/>
                <a:ext cx="11274552" cy="706120"/>
              </a:xfrm>
              <a:prstGeom prst="rect">
                <a:avLst/>
              </a:prstGeom>
              <a:blipFill>
                <a:blip r:embed="rId2"/>
                <a:stretch>
                  <a:fillRect l="-675" t="-1754" b="-1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7200" y="2271775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答案：(1) 水平长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0.96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0.96</a:t>
                    </a:r>
                  </mc:Fallback>
                </mc:AlternateContent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 米，坡道长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1.04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1.04</a:t>
                    </a:r>
                  </mc:Fallback>
                </mc:AlternateContent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 米；(2)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2.46</m:t>
                        </m:r>
                      </m:oMath>
                    </a14:m>
                  </mc:Choice>
                  <mc:Fallback xmlns="">
                    <a:r>
                      <a:rPr lang="zh-CN" sz="1600" b="1">
                        <a:solidFill>
                          <a:srgbClr val="3E6FC9"/>
                        </a:solidFill>
                        <a:latin typeface="微软雅黑"/>
                        <a:ea typeface="微软雅黑"/>
                      </a:rPr>
                      <a:t>2.46</a:t>
                    </a:r>
                  </mc:Fallback>
                </mc:AlternateContent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 米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71775"/>
                <a:ext cx="11274552" cy="385064"/>
              </a:xfrm>
              <a:prstGeom prst="rect">
                <a:avLst/>
              </a:prstGeom>
              <a:blipFill>
                <a:blip r:embed="rId3"/>
                <a:stretch>
                  <a:fillRect l="-675" b="-96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7200" y="2766567"/>
                <a:ext cx="11274552" cy="856488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 b="1">
                    <a:solidFill>
                      <a:srgbClr val="3E6FC9"/>
                    </a:solidFill>
                    <a:latin typeface="微软雅黑"/>
                    <a:ea typeface="微软雅黑"/>
                  </a:rPr>
                  <a:t>解析</a:t>
                </a: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：(1) 坡度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i="0"/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i="0"/>
                              <m:t>竖直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i="0"/>
                              <m:t>水平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2.4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=(竖直)/(水平)=1/(2.4)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⁠，水平长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=0.4×2.4=0.96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=0.4×2.4=0.96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米，坡长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0.96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>
                            <a:latin typeface="Cambria Math" panose="02040503050406030204" pitchFamily="18" charset="0"/>
                          </a:rPr>
                          <m:t>=0.4×2.6=1.04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=√(0.4^2+0.96^2)=0.4×2.6=1.04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米。(2)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1.5+0.96=2.46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1.5+0.96=2.46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米。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66567"/>
                <a:ext cx="11274552" cy="856488"/>
              </a:xfrm>
              <a:prstGeom prst="rect">
                <a:avLst/>
              </a:prstGeom>
              <a:blipFill>
                <a:blip r:embed="rId4"/>
                <a:stretch>
                  <a:fillRect l="-675" b="-188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57200" y="3732783"/>
                <a:ext cx="11274552" cy="385064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300"/>
                  </a:spcAft>
                </a:pPr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易错：坡度是”竖直：水平”不是”水平：竖直”；坡长用勾股（这里恰为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5:12:13</m:t>
                        </m:r>
                      </m:oMath>
                    </a14:m>
                  </mc:Choice>
                  <mc:Fallback xmlns="">
                    <a:r>
                      <a:rPr lang="zh-CN" sz="1600">
                        <a:solidFill>
                          <a:srgbClr val="1A2230"/>
                        </a:solidFill>
                        <a:latin typeface="微软雅黑"/>
                        <a:ea typeface="微软雅黑"/>
                      </a:rPr>
                      <a:t>5:12:13</a:t>
                    </a:r>
                  </mc:Fallback>
                </mc:AlternateContent>
                <a:r>
                  <a:rPr lang="zh-CN" sz="1600">
                    <a:solidFill>
                      <a:srgbClr val="1A2230"/>
                    </a:solidFill>
                    <a:latin typeface="微软雅黑"/>
                    <a:ea typeface="微软雅黑"/>
                  </a:rPr>
                  <a:t> 的缩放）。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732783"/>
                <a:ext cx="11274552" cy="385064"/>
              </a:xfrm>
              <a:prstGeom prst="rect">
                <a:avLst/>
              </a:prstGeom>
              <a:blipFill>
                <a:blip r:embed="rId5"/>
                <a:stretch>
                  <a:fillRect l="-675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14517</Words>
  <Application>Microsoft Macintosh PowerPoint</Application>
  <PresentationFormat>寬螢幕</PresentationFormat>
  <Paragraphs>611</Paragraphs>
  <Slides>68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68</vt:i4>
      </vt:variant>
    </vt:vector>
  </HeadingPairs>
  <TitlesOfParts>
    <vt:vector size="73" baseType="lpstr">
      <vt:lpstr>微软雅黑</vt:lpstr>
      <vt:lpstr>Arial</vt:lpstr>
      <vt:lpstr>Calibri</vt:lpstr>
      <vt:lpstr>Cambria Math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Tiantian Ye</cp:lastModifiedBy>
  <cp:revision>16</cp:revision>
  <dcterms:created xsi:type="dcterms:W3CDTF">2013-01-27T09:14:16Z</dcterms:created>
  <dcterms:modified xsi:type="dcterms:W3CDTF">2026-10-22T05:56:50Z</dcterms:modified>
  <cp:category/>
</cp:coreProperties>
</file>