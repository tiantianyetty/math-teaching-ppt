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1/52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12848"/>
            <a:ext cx="10543032" cy="137160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4000" b="1">
                <a:solidFill>
                  <a:srgbClr val="1A237E"/>
                </a:solidFill>
                <a:latin typeface="微软雅黑"/>
                <a:ea typeface="微软雅黑"/>
              </a:rPr>
              <a:t>上海市七年级上学期期中数学复习课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10543032" cy="54864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（2025—2026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学年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·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基于上海市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13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所学校/区期中试卷与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份区级练习卷的逐题分析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·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共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397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0543032" cy="54864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本资料基于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 14 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份期中试卷逐题分析整理，聚焦四个问题：</a:t>
            </a:r>
            <a:r>
              <a:rPr lang="zh-CN" sz="1500" b="1">
                <a:solidFill>
                  <a:srgbClr val="1A2230"/>
                </a:solidFill>
                <a:latin typeface="微软雅黑"/>
                <a:ea typeface="微软雅黑"/>
              </a:rPr>
              <a:t>考什么、怎么考、怎么错、怎么练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第一部分 知识体系总览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依据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份试卷的实际考查内容，七年级上学期期中知识体系归纳为以下八个板块。各校教材章节编号可能不同，以下按数学逻辑排列，前置关系自上而下：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975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板块一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代数式与整式概念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（前置：小学算式与字母）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812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代数式、单项式（系数、次数，单独一个数或字母也是单项式）、多项式（项、常数项、次数、几次几项式）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50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整式的降幂/升幂排列（按指定字母，注意带着符号搬家）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8487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同类项（两个相同：所含字母相同、相同字母的指数相同）与合并同类项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5325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整式的加减（去括号——括号前是负号要变号；添括号）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第一部分 知识体系总览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板块二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幂的运算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同底数幂的乘法：底数不变，指数相加；同底数幂的除法：底数不变，指数相减（除式不为零）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916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幂的乘方：底数不变，指数相乘；积的乘方：等于各因式乘方的积（注意系数符号）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754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零指数幂：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a^0=1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a≠0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⁠）；负整数指数幂（个别学校涉及，常与分式互化）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4233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公式的正用、逆用（如幂的乘方逆用：把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81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31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81^(31)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27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41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27^(41)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9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61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9^(61)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统一成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的幂再比较大小）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1144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板块三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整式的乘除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7982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单项式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×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单项式、单项式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×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多项式（分配律，勿漏乘）、多项式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×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多项式（每一项乘每一项，注意符号）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4819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整式除法：单项式除以单项式、多项式除以单项式（逐项相除）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1657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“展开后不含某项/含某项”型待定系数问题（令该项系数为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0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或列方程）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第一部分 知识体系总览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板块四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乘法公式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平方差公式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(a+b)(a-b)=a^2-b^2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⁠；完全平方公式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(a±b)^2=a^2±2ab+b^2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200558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公式的识别（能不能用公式）、正用（简便计算如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102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×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98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102×98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123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×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122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123^2-124×122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037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完全平方式的构造与双解（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“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kx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x^2+kx+9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是完全平方式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→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k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→k=±6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”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9516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常用变形：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a^2+b^2=(a+b)^2-2ab=(a-b)^2+2ab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4ab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(a+b)^2-(a-b)^2=4ab</a:t>
                </a:r>
              </mc:Fallback>
            </mc:AlternateContent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第一部分 知识体系总览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板块五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因式分解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概念：把一个多项式化为几个整式的积（与整式乘法互为逆变形；分解必须彻底）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916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提公因式法（公因式：系数取最大公约数、字母取最低次幂）；公式法（平方差、完全平方）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754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十字相乘法（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p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q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pq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x^2+(p+q)x+pq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型）；分组分解法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42335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拓展方法（压轴）：换元法、添项/拆项法（含立方和公式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a^3+b^3=(a+b)(a^2-ab+b^2)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⁠）、试根法、长除法、配方法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5818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因式分解的应用：看错系数还原原式、已知因式求另一因式/待定系数、拼图分解、“和为单项式须同类项”等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0087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板块六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分式基础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（仅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份试卷涉及，属个别学校进度较快或范围稍宽）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6925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分式的概念、分式有意义的条件（分母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≠0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⁠）、分式值为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0（分子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= 0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且分母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≠0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6404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最简分式判断、分式的基本性质、分式加减与化简求值、解分式方程（须检验增根）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第一部分 知识体系总览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6/52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板块七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数形结合与图形应用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（贯穿性板块）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面积法验证乘法公式（正方形剪裁、卡片拼图、四长方形围大正方形）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916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体积法验证恒等式（大正方体挖小正方体，涉及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a^3-b^3=(a-b)(a^2+ab+b^2)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7395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用完全平方公式及其变形求阴影面积、求线段长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16655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板块八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其他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（零散出现）：规律探索与程序框图、新定义运算、实际应用（列代数式、造价、面积）、图形的运动（轴对称/中心对称/平移，仅曹杨附实）、二进制/进制转换、坐标系拼图。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2.1 题型与考点分布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7/52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14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份试卷共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80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道选择题，考点分布如下（按出现频次）：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10791"/>
          <a:ext cx="11274551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773"/>
                <a:gridCol w="2748919"/>
                <a:gridCol w="3944101"/>
                <a:gridCol w="2788758"/>
              </a:tblGrid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题型名称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出现次数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典型考法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对应板块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因式分解概念判断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13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次（几乎每卷第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2—4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给四个变形，判断哪个是因式分解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因式分解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幂运算正误判断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12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四个运算式选正确的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幂的运算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整式概念判断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10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单项式系数/次数/多项式几次几项式/常数项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代数式与整式概念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乘法公式适用与计算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8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能否用平方差/完全平方、公式计算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乘法公式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整式乘法/加减计算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6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多项式乘法结果、加减逆运算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代数式与整式概念、整式的乘除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数形结合拼图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5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面积关系、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sSub>
                                <m:sSub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bPr>
                                <m:e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S</m:t>
                                  </m:r>
                                </m:e>
                                <m:sub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1</m:t>
                                  </m:r>
                                </m:sub>
                              </m:sSub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S_1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与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sSub>
                                <m:sSub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bPr>
                                <m:e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S</m:t>
                                  </m:r>
                                </m:e>
                                <m:sub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2</m:t>
                                  </m:r>
                                </m:sub>
                              </m:sSub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S_2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大小比较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数形结合与图形应用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分式概念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4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最简分式、分式性质、有意义条件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分式基础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图形运动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2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轴对称/中心对称、平移（曹杨附实）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图形的运动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新定义/规律/其他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8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新定义运算、规律探索、绝对值选址等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新定义运算、规律探索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2.2 拆解一：因式分解概念判断（13 卷出现）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8/52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典型原题（青浦练习卷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3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：下列从左到右的变形属于因式分解的是（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A.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ay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a(x+y)=ax+ay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B.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x^2+2x+1=x(x+2)+1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189585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C.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x^2-1=(x+1)(x-1)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D.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(x+2)(x-2)=x^2-4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457200" y="239064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5902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干扰项设计意图与识别方法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327399"/>
          <a:ext cx="11274549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158"/>
                <a:gridCol w="969853"/>
                <a:gridCol w="3103532"/>
                <a:gridCol w="2473127"/>
                <a:gridCol w="4121879"/>
              </a:tblGrid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选项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是否正确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对应判断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错误思路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识别方法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是整式乘法（分配律展开）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误以为”展开也是变形”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因式分解是”多项式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→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积”，方向反了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B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右边不是积的形式（含”+“）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只看有没有括号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看右边是否整体为几个整式的积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和差化积，且分解彻底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检验：用乘法展开回代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是整式乘法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与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C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恰好互逆，易混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方向判断：左边是积不是多项式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238495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解题策略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：因式分解判断题不需要动笔计算，抓两条——①左边必须是多项式；②右边必须是”几个整式的积”（最后一步是相乘，中间无加减号隔开且分解彻底）。用”方向检验法”（乘回去）30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秒内可验证。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2.3 拆解二：幂运算正误判断（12 卷出现）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9/52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40969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典型原题（青浦练习卷</a:t>
            </a:r>
            <a:r>
              <a:rPr lang="zh-CN" sz="1504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 2 </a:t>
            </a: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题）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：下列计算正确的是（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38248"/>
            <a:ext cx="11274552" cy="36580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A.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xy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÷(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xy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x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(xy)^4÷(xy)^4=xy^3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B.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3x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3x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)=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(3x+y)(3x-y)=3x^2-y^2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1858912"/>
            <a:ext cx="11274552" cy="36580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C.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⋅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2x^2⋅x^3=2x^6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D.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2x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4xy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(2x-y)^2=4x^2-4xy+y^2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457200" y="2334440"/>
            <a:ext cx="11274552" cy="340969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答案：D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5137"/>
            <a:ext cx="11274552" cy="340969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逐项拆解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35834"/>
          <a:ext cx="11274551" cy="13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20"/>
                <a:gridCol w="577020"/>
                <a:gridCol w="6058290"/>
                <a:gridCol w="4062221"/>
              </a:tblGrid>
              <a:tr h="268528">
                <a:tc>
                  <a:txBody>
                    <a:bodyPr/>
                    <a:lstStyle/>
                    <a:p>
                      <a:pPr/>
                      <a:r>
                        <a:rPr lang="zh-CN" sz="1128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选项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判断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错误原因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正确结果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8528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同底数幂除法应指数相减；且非零式相除等于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1，不是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x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w:rPr>
                                      <w:rFonts w:ascii="Cambria Math" w:hAnsi="Cambria Math"/>
                                      <w:sz w:val="23"/>
                                      <w:szCs w:val="23"/>
                                      <w:color w:val="1A2230"/>
                                    </w:rPr>
                                    <m:t>y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3"/>
                                      <w:szCs w:val="23"/>
                                      <w:color w:val="1A2230"/>
                                    </w:rPr>
                                    <m:t>3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xy^3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Para>
                              <m:oMath xmlns:w="http://schemas.openxmlformats.org/wordprocessingml/2006/main"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(</m:t>
                                </m:r>
                                <m: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xy</m:t>
                                </m:r>
                                <m:sSup>
                                  <m:sSupPr>
                                    <m:ctrlPr>
                                      <w:rPr>
                                        <w:rFonts w:ascii="Cambria Math" w:hAnsi="Cambria Math"/>
                                      </w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)</m:t>
                                    </m:r>
                                  </m:e>
                                  <m:sup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÷(</m:t>
                                </m:r>
                                <m: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xy</m:t>
                                </m:r>
                                <m:sSup>
                                  <m:sSupPr>
                                    <m:ctrlPr>
                                      <w:rPr>
                                        <w:rFonts w:ascii="Cambria Math" w:hAnsi="Cambria Math"/>
                                      </w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)</m:t>
                                    </m:r>
                                  </m:e>
                                  <m:sup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=</m:t>
                                </m:r>
                                <m: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1</m:t>
                                </m:r>
                              </m:oMath>
                            </m:oMathPara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(xy)^4÷(xy)^4=1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8528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B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平方差公式中首项系数也要平方，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w:rPr>
                                      <w:rFonts w:ascii="Cambria Math" w:hAnsi="Cambria Math"/>
                                      <w:sz w:val="23"/>
                                      <w:szCs w:val="23"/>
                                      <w:color w:val="1A2230"/>
                                    </w:rPr>
                                    <m:t>3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3"/>
                                      <w:szCs w:val="23"/>
                                      <w:color w:val="1A2230"/>
                                    </w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=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9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3^2=9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别丢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Para>
                              <m:oMath xmlns:w="http://schemas.openxmlformats.org/wordprocessingml/2006/main"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(</m:t>
                                </m:r>
                                <m: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3x</m:t>
                                </m:r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+</m:t>
                                </m:r>
                                <m: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)(</m:t>
                                </m:r>
                                <m: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3x</m:t>
                                </m:r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-</m:t>
                                </m:r>
                                <m: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)=</m:t>
                                </m:r>
                                <m: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9</m:t>
                                </m:r>
                                <m:sSup>
                                  <m:sSupPr>
                                    <m:ctrlPr>
                                      <w:rPr>
                                        <w:rFonts w:ascii="Cambria Math" w:hAnsi="Cambria Math"/>
                                      </w:rPr>
                                    </m:ctrlPr>
                                  </m:sSupPr>
                                  <m:e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x</m:t>
                                    </m:r>
                                  </m:e>
                                  <m:sup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-</m:t>
                                </m:r>
                                <m:sSup>
                                  <m:sSupPr>
                                    <m:ctrlPr>
                                      <w:rPr>
                                        <w:rFonts w:ascii="Cambria Math" w:hAnsi="Cambria Math"/>
                                      </w:rPr>
                                    </m:ctrlPr>
                                  </m:sSupPr>
                                  <m:e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y</m:t>
                                    </m:r>
                                  </m:e>
                                  <m:sup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(3x+y)(3x-y)=9x^2-y^2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68528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单项式乘单项式：系数相乘、同底数幂指数相加（不是相乘）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Para>
                              <m:oMath xmlns:w="http://schemas.openxmlformats.org/wordprocessingml/2006/main">
                                <m: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2</m:t>
                                </m:r>
                                <m:sSup>
                                  <m:sSupPr>
                                    <m:ctrlPr>
                                      <w:rPr>
                                        <w:rFonts w:ascii="Cambria Math" w:hAnsi="Cambria Math"/>
                                      </w:rPr>
                                    </m:ctrlPr>
                                  </m:sSupPr>
                                  <m:e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x</m:t>
                                    </m:r>
                                  </m:e>
                                  <m:sup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⋅</m:t>
                                </m:r>
                                <m:sSup>
                                  <m:sSupPr>
                                    <m:ctrlPr>
                                      <w:rPr>
                                        <w:rFonts w:ascii="Cambria Math" w:hAnsi="Cambria Math"/>
                                      </w:rPr>
                                    </m:ctrlPr>
                                  </m:sSupPr>
                                  <m:e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x</m:t>
                                    </m:r>
                                  </m:e>
                                  <m:sup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=</m:t>
                                </m:r>
                                <m:r>
                                  <w:rPr>
                                    <w:rFonts w:ascii="Cambria Math" w:hAnsi="Cambria Math"/>
                                    <w:sz w:val="23"/>
                                    <w:szCs w:val="23"/>
                                    <w:color w:val="1A2230"/>
                                  </w:rPr>
                                  <m:t>2</m:t>
                                </m:r>
                                <m:sSup>
                                  <m:sSupPr>
                                    <m:ctrlPr>
                                      <w:rPr>
                                        <w:rFonts w:ascii="Cambria Math" w:hAnsi="Cambria Math"/>
                                      </w:rPr>
                                    </m:ctrlPr>
                                  </m:sSupPr>
                                  <m:e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x</m:t>
                                    </m:r>
                                  </m:e>
                                  <m:sup>
                                    <m:r>
                                      <w:rPr>
                                        <w:rFonts w:ascii="Cambria Math" w:hAnsi="Cambria Math"/>
                                        <w:sz w:val="23"/>
                                        <w:szCs w:val="23"/>
                                        <w:color w:val="1A2230"/>
                                      </w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2x^2⋅x^3=2x^5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8528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完全平方公式展开正确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081093"/>
            <a:ext cx="11274552" cy="617931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干扰项设计意图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：A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考”除法指数相减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+ 1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的特殊性”；B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考”系数平方”；C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考”指数相加不是相乘”——这三个坑分别对应三条法则，是命题人固定搭配。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8752"/>
            <a:ext cx="11274552" cy="340969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识别方法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：逐项按法则完整算一遍，每项盯住两个易错点——“指数怎么算”与”系数要不要平方”。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2.4 拆解三：整式概念判断（10 卷出现）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10/52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典型原题（青浦练习卷</a:t>
            </a:r>
            <a:r>
              <a:rPr lang="zh-CN" sz="144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 1 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题）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：下列说法中，正确的是（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3"/>
            <a:ext cx="11274552" cy="420623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A.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2</m:t>
                        </m:r>
                      </m:sup>
                    </m:sSup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y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-x^2y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的系数是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3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3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B.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2x</m:t>
                        </m:r>
                        <m:sSup>
                          <m:sSup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hAnsi="Cambria Math"/>
                                <w:sz w:val="29"/>
                                <w:szCs w:val="29"/>
                                <w:color w:val="1A2230"/>
                              </w:rPr>
                              <m:t>y</m:t>
                            </m:r>
                          </m:e>
                          <m:sup>
                            <m:r>
                              <w:rPr>
                                <w:rFonts w:ascii="Cambria Math" w:hAnsi="Cambria Math"/>
                                <w:sz w:val="29"/>
                                <w:szCs w:val="29"/>
                                <w:color w:val="1A2230"/>
                              </w:rPr>
                              <m:t>2</m:t>
                            </m:r>
                          </m:sup>
                        </m:sSup>
                      </m:num>
                      <m:den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-(2xy^2)/3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不是单项式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1950"/>
            <a:ext cx="11274552" cy="35295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C.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-3x^2-x-2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的常数项是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2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D.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3xy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2x-3xy-2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的次数是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2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4636"/>
            <a:ext cx="1127455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答案：D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03548"/>
            <a:ext cx="1127455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逐项拆解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42460"/>
          <a:ext cx="11274550" cy="130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06"/>
                <a:gridCol w="612106"/>
                <a:gridCol w="3623669"/>
                <a:gridCol w="6426669"/>
              </a:tblGrid>
              <a:tr h="260604">
                <a:tc>
                  <a:txBody>
                    <a:bodyPr/>
                    <a:lstStyle/>
                    <a:p>
                      <a:pPr/>
                      <a:r>
                        <a:rPr lang="zh-CN" sz="108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选项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判断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涉及概念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正确说法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系数包含符号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-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w:rPr>
                                      <w:rFonts w:ascii="Cambria Math" w:hAnsi="Cambria Math"/>
                                      <w:sz w:val="22"/>
                                      <w:szCs w:val="22"/>
                                      <w:color w:val="1A2230"/>
                                    </w:rPr>
                                    <m:t>x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2"/>
                                      <w:szCs w:val="22"/>
                                      <w:color w:val="1A2230"/>
                                    </w:rPr>
                                    <m:t>2</m:t>
                                  </m:r>
                                </m:sup>
                              </m:sSup>
                              <m: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y</m:t>
                              </m:r>
                            </m:oMath>
                          </a14:m>
                        </mc:Choice>
                        <mc:Fallback>
                          <a:r>
                            <a:rPr lang="zh-CN" sz="108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-x^2y</a:t>
                          </a:r>
                        </mc:Fallback>
                      </mc:AlternateContent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的系数是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1</m:t>
                              </m:r>
                            </m:oMath>
                          </a14:m>
                        </mc:Choice>
                        <mc:Fallback>
                          <a:r>
                            <a:rPr lang="zh-CN" sz="108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-1</a:t>
                          </a:r>
                        </mc:Fallback>
                      </mc:AlternateContent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⁠，不是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3</m:t>
                              </m:r>
                            </m:oMath>
                          </a14:m>
                        </mc:Choice>
                        <mc:Fallback>
                          <a:r>
                            <a:rPr lang="zh-CN" sz="108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3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B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单项式定义：数字与字母的积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-</m:t>
                              </m:r>
                              <m:f>
                                <m:f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fPr>
                                <m:num>
                                  <m:r>
                                    <w:rPr>
                                      <w:rFonts w:ascii="Cambria Math" w:hAnsi="Cambria Math"/>
                                      <w:sz w:val="22"/>
                                      <w:szCs w:val="22"/>
                                      <w:color w:val="1A2230"/>
                                    </w:rPr>
                                    <m:t>2x</m:t>
                                  </m:r>
                                  <m:sSup>
                                    <m:sSupPr>
                                      <m:ctrlPr>
                                        <w:rPr>
                                          <w:rFonts w:ascii="Cambria Math" w:hAnsi="Cambria Math"/>
                                        </w:rPr>
                                      </m:ctrlPr>
                                    </m:sSupPr>
                                    <m:e>
                                      <m:r>
                                        <w:rPr>
                                          <w:rFonts w:ascii="Cambria Math" w:hAnsi="Cambria Math"/>
                                          <w:sz w:val="22"/>
                                          <w:szCs w:val="22"/>
                                          <w:color w:val="1A2230"/>
                                        </w:rPr>
                                        <m:t>y</m:t>
                                      </m:r>
                                    </m:e>
                                    <m:sup>
                                      <m:r>
                                        <w:rPr>
                                          <w:rFonts w:ascii="Cambria Math" w:hAnsi="Cambria Math"/>
                                          <w:sz w:val="22"/>
                                          <w:szCs w:val="22"/>
                                          <w:color w:val="1A2230"/>
                                        </w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w:rPr>
                                      <w:rFonts w:ascii="Cambria Math" w:hAnsi="Cambria Math"/>
                                      <w:sz w:val="22"/>
                                      <w:szCs w:val="22"/>
                                      <w:color w:val="1A2230"/>
                                    </w:rPr>
                                    <m:t>3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=-</m:t>
                              </m:r>
                              <m:f>
                                <m:f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fPr>
                                <m:num>
                                  <m:r>
                                    <w:rPr>
                                      <w:rFonts w:ascii="Cambria Math" w:hAnsi="Cambria Math"/>
                                      <w:sz w:val="22"/>
                                      <w:szCs w:val="22"/>
                                      <w:color w:val="1A2230"/>
                                    </w:rPr>
                                    <m:t>2</m:t>
                                  </m:r>
                                </m:num>
                                <m:den>
                                  <m:r>
                                    <w:rPr>
                                      <w:rFonts w:ascii="Cambria Math" w:hAnsi="Cambria Math"/>
                                      <w:sz w:val="22"/>
                                      <w:szCs w:val="22"/>
                                      <w:color w:val="1A2230"/>
                                    </w:rPr>
                                    <m:t>3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⋅</m:t>
                              </m:r>
                              <m: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x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w:rPr>
                                      <w:rFonts w:ascii="Cambria Math" w:hAnsi="Cambria Math"/>
                                      <w:sz w:val="22"/>
                                      <w:szCs w:val="22"/>
                                      <w:color w:val="1A2230"/>
                                    </w:rPr>
                                    <m:t>y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2"/>
                                      <w:szCs w:val="22"/>
                                      <w:color w:val="1A2230"/>
                                    </w:rPr>
                                    <m:t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lang="zh-CN" sz="108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-(2xy^2)/3=-2/3⋅xy^2</a:t>
                          </a:r>
                        </mc:Fallback>
                      </mc:AlternateContent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是单项式（系数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-</m:t>
                              </m:r>
                              <m:f>
                                <m:f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fPr>
                                <m:num>
                                  <m:r>
                                    <w:rPr>
                                      <w:rFonts w:ascii="Cambria Math" w:hAnsi="Cambria Math"/>
                                      <w:sz w:val="22"/>
                                      <w:szCs w:val="22"/>
                                      <w:color w:val="1A2230"/>
                                    </w:rPr>
                                    <m:t>2</m:t>
                                  </m:r>
                                </m:num>
                                <m:den>
                                  <m:r>
                                    <w:rPr>
                                      <w:rFonts w:ascii="Cambria Math" w:hAnsi="Cambria Math"/>
                                      <w:sz w:val="22"/>
                                      <w:szCs w:val="22"/>
                                      <w:color w:val="1A2230"/>
                                    </w:rPr>
                                    <m:t>3</m:t>
                                  </m:r>
                                </m:den>
                              </m:f>
                            </m:oMath>
                          </a14:m>
                        </mc:Choice>
                        <mc:Fallback>
                          <a:r>
                            <a:rPr lang="zh-CN" sz="108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-2/3</a:t>
                          </a:r>
                        </mc:Fallback>
                      </mc:AlternateContent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⁠，次数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3）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常数项含符号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常数项是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2</m:t>
                              </m:r>
                            </m:oMath>
                          </a14:m>
                        </mc:Choice>
                        <mc:Fallback>
                          <a:r>
                            <a:rPr lang="zh-CN" sz="108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-2</a:t>
                          </a:r>
                        </mc:Fallback>
                      </mc:AlternateContent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⁠，不是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2"/>
                                  <w:szCs w:val="22"/>
                                  <w:color w:val="1A2230"/>
                                </w:rPr>
                                <m:t>2</m:t>
                              </m:r>
                            </m:oMath>
                          </a14:m>
                        </mc:Choice>
                        <mc:Fallback>
                          <a:r>
                            <a:rPr lang="zh-CN" sz="108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多项式的次数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= 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最高次项的次数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各项次数为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1、2、0，最高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2 </a:t>
                      </a:r>
                      <a:r>
                        <a:rPr lang="zh-CN" sz="108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043828"/>
            <a:ext cx="1127455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D9534F"/>
                </a:solidFill>
                <a:latin typeface="微软雅黑"/>
                <a:ea typeface="微软雅黑"/>
              </a:rPr>
              <a:t>易错点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：“系数丢符号”与”常数项丢符号”是同一类错误的两种表现；判断单项式只看”是不是数字与字母的积”，分母含字母就不是。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2740"/>
            <a:ext cx="1127455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命题提示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：此类题四个选项通常各考一个概念（系数、单项式识别、常数项、次数），一个概念不清就丢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2.5 拆解四：完全平方式双解（高频陷阱，5 卷以上出现）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11/52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例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kx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x^2-kx+9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是完全平方式，则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k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k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的值为（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8234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A.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B.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C.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±6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D.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±3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197713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445511"/>
          <a:ext cx="11274551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485"/>
                <a:gridCol w="620061"/>
                <a:gridCol w="2821278"/>
                <a:gridCol w="3503345"/>
                <a:gridCol w="3875382"/>
              </a:tblGrid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选项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是否正确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对应判断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可能的错误思路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识别方法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只取了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=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6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k=6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忽略了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-(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3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)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-(x-3)^2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也能展开出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6x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-6x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完全平方式有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(+)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(+)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与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(-)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(-)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两种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B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只取了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=-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6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k=-6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与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A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对称的漏解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同上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(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±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3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)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(x±3)^2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的中间项是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∓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6x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∓6x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对照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(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±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b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)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=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a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±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2ab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+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b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(a±b)^2=a^2±2ab+b^2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把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k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-k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与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±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3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±3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混淆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误认为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k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k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等于”底数”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=-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2ab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k=-2ab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⁠，先求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ab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=±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3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ab=±3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再乘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2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-2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014975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同类真题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：宝山区卷第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题（答案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5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或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−3）、复旦二附校第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18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题、川沙新镇卷第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15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题、华理附中第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题（完整拆解见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3.2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拆解一）、向明江帆卷第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题（−6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或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6）——全部为双解结构，是选择题与填空题共用的第一陷阱。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2.6 拆解五：数形结合拼图选择题（淞谊实验 第 6 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12/52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969385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原题（宝山区淞谊实验学校</a:t>
            </a:r>
            <a:r>
              <a:rPr lang="zh-CN" sz="1504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 6 </a:t>
            </a: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题）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：用边长分别为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b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&gt;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a&gt;b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⁠）的两种正方形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A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和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B，拼成如图所示的两个图形，若图中阴影部分面积分别记为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1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S_2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⁠，下列关于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1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S_2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的大小关系表述正确的是（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6664"/>
            <a:ext cx="11274552" cy="36580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A.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&gt;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S_1&gt;S_2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B.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&lt;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S_1&lt;S_2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C.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≥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S_1≥S_2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  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D.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=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S_1=S_2</a:t>
                </a:r>
              </mc:Fallback>
            </mc:AlternateContent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903" y="2487328"/>
            <a:ext cx="4687145" cy="1762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304412"/>
            <a:ext cx="11274552" cy="340969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淞谊实验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6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题题图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5109"/>
            <a:ext cx="11274552" cy="340969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答案：B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05806"/>
            <a:ext cx="11274552" cy="340969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解析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（按原卷解析思路，用”整体面积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−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空白面积”表示阴影）：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56503"/>
            <a:ext cx="11274552" cy="36580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图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1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的外框长为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2b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(a+2b)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⁠、宽为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⁠，空白部分为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1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个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A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型正方形与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个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B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型正方形，故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2.6 拆解五：数形结合拼图选择题（淞谊实验 第 6 题）（续）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13/52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65064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Para>
                    <m:oMath xmlns:w="http://schemas.openxmlformats.org/wordprocessingml/2006/main">
                      <m:sSub>
                        <m:sSubPr>
                          <m:ctrlPr>
                            <w:rPr>
                              <w:rFonts w:ascii="Cambria Math" w:hAnsi="Cambria Math"/>
                            </w:rPr>
                          </m:ctrlPr>
                        </m:sSub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S</m:t>
                          </m:r>
                        </m:e>
                        <m:sub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=(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a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+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2b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)(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a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+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)-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a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b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=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a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+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3ab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+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2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b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a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b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=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3ab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b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S_1=(a+2b)(a+b)-a^2-3b^2=a^2+3ab+2b^2-a^2-3b^2=3ab-b^2</a:t>
                </a:r>
              </mc:Fallback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802789"/>
            <a:ext cx="11274552" cy="34011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图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2 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的外框长为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3a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3a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⁠、宽为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(a+2b)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⁠，空白部分为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个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A 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型正方形与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个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B 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型正方形，故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52633"/>
            <a:ext cx="11274552" cy="65064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Para>
                    <m:oMath xmlns:w="http://schemas.openxmlformats.org/wordprocessingml/2006/main">
                      <m:sSub>
                        <m:sSubPr>
                          <m:ctrlPr>
                            <w:rPr>
                              <w:rFonts w:ascii="Cambria Math" w:hAnsi="Cambria Math"/>
                            </w:rPr>
                          </m:ctrlPr>
                        </m:sSub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S</m:t>
                          </m:r>
                        </m:e>
                        <m:sub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=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3a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(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a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+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2b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)-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a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b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=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a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+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6ab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a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b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=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6ab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b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S_2=3a(a+2b)-3a^2-3b^2=3a^2+6ab-3a^2-3b^2=6ab-3b^2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457200" y="3013007"/>
            <a:ext cx="11274552" cy="31739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作差：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40133"/>
            <a:ext cx="11274552" cy="65064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Para>
                    <m:oMath xmlns:w="http://schemas.openxmlformats.org/wordprocessingml/2006/main">
                      <m:sSub>
                        <m:sSubPr>
                          <m:ctrlPr>
                            <w:rPr>
                              <w:rFonts w:ascii="Cambria Math" w:hAnsi="Cambria Math"/>
                            </w:rPr>
                          </m:ctrlPr>
                        </m:sSub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S</m:t>
                          </m:r>
                        </m:e>
                        <m:sub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sSub>
                        <m:sSubPr>
                          <m:ctrlPr>
                            <w:rPr>
                              <w:rFonts w:ascii="Cambria Math" w:hAnsi="Cambria Math"/>
                            </w:rPr>
                          </m:ctrlPr>
                        </m:sSub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S</m:t>
                          </m:r>
                        </m:e>
                        <m:sub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=(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6ab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b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)-(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3ab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b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)=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3ab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2</m:t>
                      </m:r>
                      <m:sSup>
                        <m:sSupPr>
                          <m:ctrlPr>
                            <w:rPr>
                              <w:rFonts w:ascii="Cambria Math" w:hAnsi="Cambria Math"/>
                            </w:rPr>
                          </m:ctrlPr>
                        </m:sSupPr>
                        <m:e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b</m:t>
                          </m:r>
                        </m:e>
                        <m:sup>
                          <m:r>
                            <w:rPr>
                              <w:rFonts w:ascii="Cambria Math" w:hAnsi="Cambria Math"/>
                              <w:sz w:val="28"/>
                              <w:szCs w:val="28"/>
                              <w:color w:val="1A2230"/>
                            </w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=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(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3a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-</m:t>
                      </m:r>
                      <m: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2b</m:t>
                      </m:r>
                      <m:r>
                        <m:rPr>
                          <m:sty m:val="p"/>
                        </m:rPr>
                        <w:rPr>
                          <w:rFonts w:ascii="Cambria Math" w:hAnsi="Cambria Math"/>
                          <w:sz w:val="28"/>
                          <w:szCs w:val="28"/>
                          <w:color w:val="1A2230"/>
                        </w:rPr>
                        <m:t>)</m:t>
                      </m:r>
                    </m:oMath>
                  </m:oMathPara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S_2-S_1=(6ab-3b^2)-(3ab-b^2)=3ab-2b^2=b(3a-2b)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457200" y="4200507"/>
            <a:ext cx="11274552" cy="61622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因为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&gt;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&gt;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a&gt;b&gt;0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⁠，所以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3a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&gt;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3b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&gt;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3a-2b&gt;3b-2b=b&gt;0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⁠，即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&gt;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S_2-S_1&gt;0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&lt;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S_1&lt;S_2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⁠，故选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B。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26459"/>
            <a:ext cx="11274552" cy="31739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考查能力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：把图形语言翻译成代数式（面积减法）、整式运算、作差比较。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53585"/>
            <a:ext cx="11274552" cy="34011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 b="1">
                <a:solidFill>
                  <a:srgbClr val="D9534F"/>
                </a:solidFill>
                <a:latin typeface="微软雅黑"/>
                <a:ea typeface="微软雅黑"/>
              </a:rPr>
              <a:t>易错点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：外框的长、宽数错（漏算某一块）；作差后忘了用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&gt;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a&gt;b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判断符号。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03429"/>
            <a:ext cx="11274552" cy="34011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变式方向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：把”比较大小”改为”求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3E6FC9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3E6FC9"/>
                          </w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-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3E6FC9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3E6FC9"/>
                          </w:rPr>
                          <m:t>1</m:t>
                        </m:r>
                      </m:sub>
                    </m:sSub>
                  </m:oMath>
                </a14:m>
              </mc:Choice>
              <mc:Fallback>
                <a:r>
                  <a:rPr lang="zh-CN" sz="1376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S_2-S_1</a:t>
                </a:r>
              </mc:Fallback>
            </mc:AlternateContent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“，或”已知两阴影之差反求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b</m:t>
                    </m:r>
                  </m:oMath>
                </a14:m>
              </mc:Choice>
              <mc:Fallback>
                <a:r>
                  <a:rPr lang="zh-CN" sz="1376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a-b</a:t>
                </a:r>
              </mc:Fallback>
            </mc:AlternateContent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“。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2.7 解题策略适用性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14/52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依据样本题型，以下策略有效（附适用条件）：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定义直接判断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（因式分解概念、整式概念）：零计算，纯概念，条件是熟记定义关键词。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916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逐项代入计算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（幂运算正误）：对四个选项逐一按法则计算，慢但稳；适合法则记忆不牢的学生。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7543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特殊值检验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（幂的大小比较、公式适用判断）：如比较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2^(33)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3^(22)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（向明江帆卷第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题，拆解见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3.2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拆解七）。适用条件：字母取值有范围限制时取代表值。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339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数形结合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（拼图面积）：把代数式翻译成面积，用两种方法表示后作差。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3176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排除法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（多结论判断题，如曹杨附实第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8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题、青教院附中第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题）：先判断最有把握的结论，缩小范围。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3.1 题型分布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15/52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14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份试卷共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172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道填空题（每题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2—3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分），前段（第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7—13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题左右）为基本概念与一步运算，中段为公式与因式分解，末段（第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14—19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题）集中出现较难题。各卷末题常见类型：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05431"/>
          <a:ext cx="11274550" cy="3084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0910"/>
                <a:gridCol w="4697729"/>
                <a:gridCol w="3685911"/>
              </a:tblGrid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出现试卷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题号示例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看错系数还原原式再因式分解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进华中学、曹杨附实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进华中学第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16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题、曹杨附实第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17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规律探索（循环/树状图/图形）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青浦练习卷、淞谊实验、曹杨附实、青教院附中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青浦练习卷第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8、18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题，淞谊实验第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20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加单项式使能因式分解（分类讨论）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青教院附中、青浦练习卷、金山区卷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青教院附中第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16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题（3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种）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新定义运算（黄金数等）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金山区卷、川沙新镇卷、曹杨附实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金山区卷第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18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完全平方式求参（双解）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宝山区卷、复旦二附校、川沙新镇卷、华理附中、向明江帆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华理附中第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17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乘方特殊值多解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民一中学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民一中学第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14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题（0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或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4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或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2）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数轴规律/绝对值最值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民一中学、向明江帆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民一中学第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18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题（n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= 19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或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18）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因式分解综合求值/比大小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宝山区卷、经纬实验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宝山区卷第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20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题、经纬实验第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18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拼图阴影求值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经纬实验、向明江帆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经纬实验第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19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题、向明江帆第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18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幂运算综合（含立方根）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淞谊实验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淞谊实验第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19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3.2 具体考点与代表题拆解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16/52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（1）完全平方式求参（双解）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——代表题：华理附中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4602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关于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的整式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m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4</m:t>
                        </m:r>
                      </m:den>
                    </m:f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9m^2x^2+nx+1/4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是完全平方式，则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m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n</m:t>
                        </m:r>
                      </m:den>
                    </m:f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m/n=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______。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5903"/>
            <a:ext cx="11274552" cy="8564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解析：把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m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9m^2x^2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写成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3mx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(3mx)^2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4</m:t>
                        </m:r>
                      </m:den>
                    </m:f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1/4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写成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d>
                          <m:d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dPr>
                          <m:e>
                            <m:f>
                              <m:fPr>
                                <m:ctrlPr>
                                  <w:rPr>
                                    <w:rFonts w:ascii="Cambria Math" w:hAnsi="Cambria Math"/>
                                  </w:rPr>
                                </m:ctrlPr>
                              </m:fPr>
                              <m:num>
                                <m:r>
                                  <w:rPr>
                                    <w:rFonts w:ascii="Cambria Math" w:hAnsi="Cambria Math"/>
                                    <w:sz w:val="32"/>
                                    <w:szCs w:val="32"/>
                                    <w:color w:val="1A2230"/>
                                  </w:rPr>
                                  <m:t>1</m:t>
                                </m:r>
                              </m:num>
                              <m:den>
                                <m:r>
                                  <w:rPr>
                                    <w:rFonts w:ascii="Cambria Math" w:hAnsi="Cambria Math"/>
                                    <w:sz w:val="32"/>
                                    <w:szCs w:val="32"/>
                                    <w:color w:val="1A2230"/>
                                  </w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(1/2)^2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⁠，中间项为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⋅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3mx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⋅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3mx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±2⋅3mx⋅1/2=±3mx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⁠；令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3mx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nx=±3mx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3m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n=±3m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m≠0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⁠），故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m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n</m:t>
                        </m:r>
                      </m:den>
                    </m:f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m/n=1/3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或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-1/3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9211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易错点：两组解只写一组；中间项系数忘乘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348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（2）看错系数还原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——代表题：进华中学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48327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甲看错一次项系数，把某二次三项式分解为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2(x-1)(x-9)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⁠；乙看错常数项，分解为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2(x-2)(x-4)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⁠。求原多项式并正确分解。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64175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解析：看错一次项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常数项对（由甲得常数项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×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×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18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2×1×9=18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⁠）；看错常数项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一次项对（由乙得一次项系数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×(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-2×(2+4)=-12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⁠）；二次项系数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两边一致。故原式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18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=2x^2-12x+18=2(x-3)^2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8002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能力要求：多项式乘法展开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信息组合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完全平方公式。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3.2 具体考点与代表题拆解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17/52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（3）加单项式使能因式分解（开放分类）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——代表题：青教院附中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若整式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9x^2+1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加上一个单项式后，能用完全平方公式分解因式，则加上的单项式是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______。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0719"/>
            <a:ext cx="11274552" cy="125272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6x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±6x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或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81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4</m:t>
                        </m:r>
                      </m:den>
                    </m:f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4</m:t>
                        </m:r>
                      </m:sup>
                    </m:sSup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(81)/4x^4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⁠，共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3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种。分类：①补中间项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6x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+6x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6x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3x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9x^2+6x+1=(3x+1)^2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⁠；②补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6x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-6x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3x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(3x-1)^2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⁠；③把已有的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9x^2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当中间项，补平方项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81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4</m:t>
                        </m:r>
                      </m:den>
                    </m:f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4</m:t>
                        </m:r>
                      </m:sup>
                    </m:sSup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(81)/4x^4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81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4</m:t>
                        </m:r>
                      </m:den>
                    </m:f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d>
                          <m:d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dPr>
                          <m:e>
                            <m:f>
                              <m:fPr>
                                <m:ctrlPr>
                                  <w:rPr>
                                    <w:rFonts w:ascii="Cambria Math" w:hAnsi="Cambria Math"/>
                                  </w:rPr>
                                </m:ctrlPr>
                              </m:fPr>
                              <m:num>
                                <m:r>
                                  <w:rPr>
                                    <w:rFonts w:ascii="Cambria Math" w:hAnsi="Cambria Math"/>
                                    <w:sz w:val="32"/>
                                    <w:szCs w:val="32"/>
                                    <w:color w:val="3E6FC9"/>
                                  </w:rPr>
                                  <m:t>9</m:t>
                                </m:r>
                              </m:num>
                              <m:den>
                                <m:r>
                                  <w:rPr>
                                    <w:rFonts w:ascii="Cambria Math" w:hAnsi="Cambria Math"/>
                                    <w:sz w:val="32"/>
                                    <w:szCs w:val="32"/>
                                    <w:color w:val="3E6FC9"/>
                                  </w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w:rPr>
                                    <w:rFonts w:ascii="Cambria Math" w:hAnsi="Cambria Math"/>
                                  </w:rPr>
                                </m:ctrlPr>
                              </m:sSupPr>
                              <m:e>
                                <m:r>
                                  <w:rPr>
                                    <w:rFonts w:ascii="Cambria Math" w:hAnsi="Cambria Math"/>
                                    <w:sz w:val="32"/>
                                    <w:szCs w:val="32"/>
                                    <w:color w:val="3E6FC9"/>
                                  </w:rPr>
                                  <m:t>x</m:t>
                                </m:r>
                              </m:e>
                              <m:sup>
                                <m:r>
                                  <w:rPr>
                                    <w:rFonts w:ascii="Cambria Math" w:hAnsi="Cambria Math"/>
                                    <w:sz w:val="32"/>
                                    <w:szCs w:val="32"/>
                                    <w:color w:val="3E6FC9"/>
                                  </w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3E6FC9"/>
                              </w:rPr>
                              <m:t>+</m:t>
                            </m:r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3E6FC9"/>
                              </w:rPr>
                              <m:t>1</m:t>
                            </m:r>
                          </m:e>
                        </m:d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(81)/4x^4+9x^2+1=(9/2x^2+1)^2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1317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易错点：只想到补中间项，漏”把现有项当中间项”的第三类。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3.2 具体考点与代表题拆解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18/52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（4）乘方特殊值多解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——代表题：民一中学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(x-3)^x=1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⁠，则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的值为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______。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0719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0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x=0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或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4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4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或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2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2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⁠。三类：①指数为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0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且底数非零：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0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x=0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(-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(-3)^0=1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⁠）；②底数为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1：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3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x-3=1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4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x=4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⁠；③底数为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-1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且指数为偶数：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3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x-3=-1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2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x=2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656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易错点：漏类是主要失分点，三类必须逐一检查。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0926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（5）规律循环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——代表题：青浦练习卷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8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题”回头差”游戏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22775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对依次排列的两个整式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-m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-n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操作：每次增加的整式是”上一次得到的最后一个整式减去其前一整式”的差。第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次操作后得到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个整式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-m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-n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-n+m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……问第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2023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次操作后所有整式之和。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38623"/>
            <a:ext cx="11274552" cy="102717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解析：前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个整式为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-m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-n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-n+m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n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n-m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个一循环且每组之和为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0；第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2023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次操作后共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2023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2025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2023+2=2025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个整式，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2025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×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337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2025=6×337+3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⁠，故其和等于前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个整式之和，为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2n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-2n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⁠。要点：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先找循环节，再用除法取余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3.2 具体考点与代表题拆解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19/52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（6）因式分解要彻底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——代表题：金山区卷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12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分解因式：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3x^3-12x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0719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解析：第一步提公因式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3x(x^2-4)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⁠；第二步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x^2-4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还能用平方差公式，继续分解为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3x(x+2)(x-2)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6567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易错点：大量学生停在第一步——“分解不彻底”是因式分解解答题最常见的隐性扣分点。判断标准：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每个因式都不能再分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才算完成。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0390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（7）幂的大小比较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——代表题：向明江帆卷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1741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比较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2^(33)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3^(22)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的大小。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12207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解析：逆用幂的乘方化为同指数：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8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11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2^(33)=(2^3)^(11)=8^(11)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9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11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3^(22)=(3^2)^(11)=9^(11)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⁠；因为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&lt;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8&lt;9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⁠，所以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&lt;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2^(33)&lt;3^(22)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2805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方法总结：化为同底数或同指数再比较；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mn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m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n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a^(mn)=(a^m)^n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的逆用是关键一步。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第三部分 填空题专项分析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20/52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（8）多项式次数的隐含条件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——代表题：民一中学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|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m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+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3x^2y^(|m+1|)-(2-m)y^2-1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是关于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y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的五次三项式，求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0719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解析：五次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|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|=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|m+1|=3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m=2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或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m=-4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⁠；三项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第二项系数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-(2-m)≠0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⁠，即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m≠2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⁠；故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m=-4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656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易错点：漏掉”系数非零”会多出一个假解。“几次几项式”类题目永远要同时检查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次数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项的存在性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两个条件。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0926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（1）完全平方式漏负解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（5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卷出现）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宝山区卷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16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已知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16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x^2+2(m-1)x+16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是完全平方式，则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m=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______。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72431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5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m=5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或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3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-3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457200" y="4967223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解析：中间项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⋅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⋅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2(m-1)x=±2⋅x⋅4=±8x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⁠，即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m-1=±4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⁠。华理附中第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题（3.2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拆解一）与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2.5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例题同属双解结构，两组解缺一不可。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 隐蔽陷阱清单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21/52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（2）零指数幂忽略底数非零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淞谊实验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12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5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(x-5)^0=1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成立，则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应满足的条件为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______。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558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5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x≠5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457200" y="2500375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a^0=1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的前提是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a≠0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⁠，作答必须写明。民一中学第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题（3.2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拆解四）中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x=0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的情形同理：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(-3)^0=1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⁠，底数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-3≠0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才成立。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9054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（3）分式值为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0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忽略分母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58919"/>
            <a:ext cx="11274552" cy="4602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经纬实验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17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当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x=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______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时，分式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-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8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-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(x-8)/(x-3)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的值为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0。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2889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8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x=8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（且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3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0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x-3≠0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⁠）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368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解析：分子等于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0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且分母不等于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0，两个条件同时成立。只令分子为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0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而不检验分母，是最常见的丢分写法。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 隐蔽陷阱清单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22/52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（4）去括号不变号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华理附中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25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题（纠错题）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化简：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)÷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(2x+3y)(3x+y)-6x(x^2y+xy^2)÷2x^2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⁠。明明的解答：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071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第一步：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11xy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)÷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=6x^2+11xy+3y^2-(6x^3y+6x^2y^2)÷2x^2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064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第二步：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11xy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=6x^2+11xy+3y^2-3xy+3y^2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057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第三步：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=6x^2+8xy+6y^2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2536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答案：从第二步开始出错，正确结果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8xy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6x^2+8xy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457200" y="382015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解析：减号后的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(3xy+3y^2)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未变号，应为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-3xy-3y^2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⁠。向明江帆卷第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题为同一道题。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 隐蔽陷阱清单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23/52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（5）分解不彻底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金山区卷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12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分解因式：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3x^3-12x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558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3x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)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3x(x+2)(x-2)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457200" y="2500375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解析：第一步提公因式得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3x(x^2-4)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⁠，尚未完成——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x^2-4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还能用平方差公式继续分解。写到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3x(x^2-4)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就停要扣过程分；判断标准：每个因式都不能再分。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9054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（6）多项式次数的隐含条件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58919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民一中学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17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|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m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+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3x^2y^(|m+1|)-(2-m)y^2-1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是关于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y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的五次三项式，求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7476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4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m=-4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457200" y="5369559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解析：五次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|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|=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|m+1|=3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m=2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或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-4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⁠；三项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第二项系数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-(2-m)≠0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⁠，排除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m=2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⁠。次数与项的存在性必须同时检查。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 隐蔽陷阱清单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24/52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（7）乘积不含某项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81327"/>
            <a:ext cx="11274552" cy="6419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向明江帆卷</a:t>
            </a:r>
            <a:r>
              <a:rPr lang="zh-CN" sz="144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 16 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题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已知关于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x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x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的整式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mx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n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x^2-mx+n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x-2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的乘积中不含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项和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x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x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项，则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mn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=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mn=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______。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32963"/>
            <a:ext cx="11274552" cy="35295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3E6FC9"/>
                      </w:rPr>
                      <m:t>mn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3E6FC9"/>
                      </w:rPr>
                      <m:t>=-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3E6FC9"/>
                      </w:rPr>
                      <m:t>8</m:t>
                    </m:r>
                  </m:oMath>
                </a14:m>
              </mc:Choice>
              <mc:Fallback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mn=-8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457200" y="2695649"/>
            <a:ext cx="11274552" cy="6419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解析：展开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mx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)=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-(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)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+(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)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2n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(x^2-mx+n)(x-2)=x^3-(m+2)x^2+(2m+n)x-2n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⁠，令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m+2=0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且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2m+n=0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⁠，得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=-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m=-2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4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n=4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⁠。两个”不含”要联立两个方程。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21605"/>
            <a:ext cx="1127455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（8）分类讨论遗漏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17"/>
            <a:ext cx="11274552" cy="930859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民一中学</a:t>
            </a:r>
            <a:r>
              <a:rPr lang="zh-CN" sz="144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 18 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题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数轴上点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A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表示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1，第一次向左移动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2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个单位长度到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A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1</m:t>
                        </m:r>
                      </m:sub>
                    </m:sSub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A_1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⁠，第二次向右移动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4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个单位长度到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A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A_2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⁠，第三次向左移动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6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个单位长度到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A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3</m:t>
                        </m:r>
                      </m:sub>
                    </m:sSub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A_3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……第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n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n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次移动到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A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n</m:t>
                        </m:r>
                      </m:sub>
                    </m:sSub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A_n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⁠。若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A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29"/>
                            <w:szCs w:val="29"/>
                            <w:color w:val="1A2230"/>
                          </w:rPr>
                          <m:t>n</m:t>
                        </m:r>
                      </m:sub>
                    </m:sSub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A_n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与原点的距离等于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19，则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n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n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= ______。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01104"/>
            <a:ext cx="11274552" cy="35295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3E6FC9"/>
                      </w:rPr>
                      <m:t>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9"/>
                        <w:szCs w:val="29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29"/>
                        <w:szCs w:val="29"/>
                        <w:color w:val="3E6FC9"/>
                      </w:rPr>
                      <m:t>19</m:t>
                    </m:r>
                  </m:oMath>
                </a14:m>
              </mc:Choice>
              <mc:Fallback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n=19</a:t>
                </a:r>
              </mc:Fallback>
            </mc:AlternateContent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或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3E6FC9"/>
                      </w:rPr>
                      <m:t>18</m:t>
                    </m:r>
                  </m:oMath>
                </a14:m>
              </mc:Choice>
              <mc:Fallback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18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457200" y="5663790"/>
            <a:ext cx="11274552" cy="35295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解析：按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9"/>
                        <w:szCs w:val="29"/>
                        <w:color w:val="1A2230"/>
                      </w:rPr>
                      <m:t>n</m:t>
                    </m:r>
                  </m:oMath>
                </a14:m>
              </mc:Choice>
              <mc:Fallback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n</a:t>
                </a:r>
              </mc:Fallback>
            </mc:AlternateContent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的奇偶分别计算，向左、向右两个方向各有一个解。加项成完全平方式的分类讨论（3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种答案）见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 3.2 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拆解三。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第三部分 填空题专项分析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25/52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（9）幂运算逆用变形错误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青浦练习卷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10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81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31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a=81^(31)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27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41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b=27^(41)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9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61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c=9^(61)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⁠，则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c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的大小关系是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______。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663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&gt;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&gt;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c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a&gt;b&gt;c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457200" y="2821431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解析：统一化成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的幂：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4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31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124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a=(3^4)^(31)=3^(124)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41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123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b=(3^3)^(41)=3^(123)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61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122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c=(3^2)^(61)=3^(122)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⁠。把幂的乘方算成同底数幂相乘（指数该乘却加）是主要错误来源。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11599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针对上表高频考点设计的配套变式题（变式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4—7）完整题目、答案与解析统一收录于第八部分；建议与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3.3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陷阱条目配合使用：先做变式，再对照陷阱清单复盘。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第四部分 简答题专项分析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26/52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94792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解答题共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120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题，占全部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397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题的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30%，集中在每卷第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17—26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题（个别卷到第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题），是”过程分”的主战场。与选择、填空”只看结果”不同，简答题按步骤给分：方法选对即有基础分，某一步算错只扣该步的分——规范书写本身就是得分手段。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374391"/>
          <a:ext cx="11274550" cy="227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489"/>
                <a:gridCol w="1695893"/>
                <a:gridCol w="5495951"/>
                <a:gridCol w="1256217"/>
              </a:tblGrid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题型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出现次数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典型考法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对应知识板块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853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因式分解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32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次（几乎每卷必考）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提公因式＋公式法综合、十字相乘、分组分解、添加单项式使能分解（开放题）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因式分解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整式乘除运算与化简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30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多项式×多项式、平方差化简、整式除法、混合运算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整式的乘除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乘法公式计算与化简求值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25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公式正用、简便计算、先化简再求值、非负性证明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乘法公式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853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整式加减化简求值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9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去括号合并、求整式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A−B、纠错题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代数式与整式概念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7853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幂运算、规律探索、实际应用、新定义等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每类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2—4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次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积的乘方、程序框图、列代数式、阅读理解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幂的运算、其他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4.2 高频题型拆解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27/52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（1）因式分解——代表题：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淞谊实验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26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分解因式：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(a^2+1)^2-4a^2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071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(a+1)^2(a-1)^2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457200" y="2445511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解析：先用平方差公式：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(a^2+1)^2-4a^2=(a^2+1+2a)(a^2+1-2a)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⁠；再把每个因式凑成完全平方：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a^2+1+2a=(a+1)^2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a^2+1-2a=(a-1)^2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1359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易错点：①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写到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(a^2+1+2a)(a^2+1-2a)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就停笔——每个因式还能继续用完全平方公式分解（分解不彻底）；②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凑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(a±1)^2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时忽略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1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±2a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的位置顺序。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4.2 高频题型拆解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28/52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（2）整式混合运算——代表题：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金山区卷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22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计算：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(3x+2y)(2x+3y)-2(x-3y)(-3y-x)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071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8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13xy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3E6FC9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8x^2+13xy-12y^2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457200" y="2445511"/>
            <a:ext cx="11274552" cy="102717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解析：关键在第二项预处理：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=-(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-3y-x=-(x+3y)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⁠，故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18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-2(x-3y)(-3y-x)=2(x-3y)(x+3y)=2(x^2-9y^2)=2x^2-18y^2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⁠；第一项展开得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13xy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6x^2+13xy+6y^2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⁠；合并：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13xy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18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13xy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6x^2+13xy+6y^2+2x^2-18y^2=8x^2+13xy-12y^2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82415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易错点：①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看不出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(-3y-x)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(x+3y)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只差一个负号，直接硬乘六项极易出错；②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减号后的整体漏变号（与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3.3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纠错题是同一陷阱在计算题中的变体）。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4.2 高频题型拆解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29/52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（3）化简求值与整体代换——代表题：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进华中学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23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如果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a-b=-2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5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b-c=5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⁠，计算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c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bc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a^2+b^2+c^2-ab-bc-ca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071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9095"/>
            <a:ext cx="11274552" cy="8564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解析：核心恒等式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c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bc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w:rPr>
                            <w:rFonts w:ascii="Cambria Math" w:hAnsi="Cambria Math"/>
                          </w:rPr>
                        </m:ctrlPr>
                      </m:d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(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-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  <m:sSup>
                          <m:sSup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)</m:t>
                            </m:r>
                          </m:e>
                          <m:sup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+(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-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c</m:t>
                        </m:r>
                        <m:sSup>
                          <m:sSup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)</m:t>
                            </m:r>
                          </m:e>
                          <m:sup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+(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-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c</m:t>
                        </m:r>
                        <m:sSup>
                          <m:sSup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)</m:t>
                            </m:r>
                          </m:e>
                          <m:sup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2</m:t>
                            </m:r>
                          </m:sup>
                        </m:sSup>
                      </m:e>
                    </m:d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a^2+b^2+c^2-ab-bc-ca=1/2[(a-b)^2+(b-c)^2+(a-c)^2]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⁠；由条件得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)+(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a-c=(a-b)+(b-c)=3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⁠，代入得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×(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25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19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1/2×(4+25+9)=19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5311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易错点：①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试图分别解出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c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——两个方程解三个未知数解不出，必须整体代换；②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忘记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a-c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要由两式相加先求出来。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4.3 简答题答题规范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30/52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步骤即得分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：按”选方法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写关键步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合并结果”分段书写，关键步骤写清依据法则；跳步后出错将丢掉整段过程分。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先化简、再代入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：化简求值题直接代入硬算又慢又易错；条件是比值、和差关系时优先整体代换。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916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因式分解必检”每个因式不能再分”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：提完公因式、用完一次公式后都要回头看一眼。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754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符号三查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：去括号要变号、减号后整体要变号、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(1-m)^2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(m-1)^2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这类偶次幂可直接互换。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 数形结合恒等式压轴拆解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31/52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“用两种方法计算同一个图形的面积（体积），得到一个恒等式，再迁移应用”——这一类题在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份试卷中有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8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份作为压轴题出现，是本范围最稳定的”最后一题”。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073" y="1805431"/>
            <a:ext cx="7914806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92683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青浦练习卷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题题图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95215"/>
            <a:ext cx="11274552" cy="102717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原题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：现有如图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8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张大小、形状相同的直角三角形纸片，三边长分别是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c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⁠。用其中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张纸片拼成如图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的大正方形（空白部分是边长分别为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和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的正方形）；用另外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张纸片拼成如图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的大正方形（中间的空白部分是边长为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c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c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的正方形）。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5.1 拆解题一：勾股拼图与半圆（青浦练习卷 第 27 题，10 分）（续）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32/52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969385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（1）思考：结论①：从整体看，整个图形的面积等于各部分面积的和。所以图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2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和图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的大正方形的面积都可以表示为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(a+b)^2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⁠；结论②：图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2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中的大正方形的面积又可以用含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b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的代数式表示为______；结论③：图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中的大正方形的面积又可以用含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b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c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c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的代数式表示为______。结合结论②和结论③，可以得到等式______。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1528"/>
            <a:ext cx="11274552" cy="667593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（2）应用：若分别以直角三角形三边为直径，向外作半圆（如图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4），三个半圆的面积分别记作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1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S_2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3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S_3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⁠，且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30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S_1+S_2+S_3=30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⁠，求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S_2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的值。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8849"/>
            <a:ext cx="11274552" cy="667593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（3）延伸：若分别以直角三角形三边为直径，向上作三个半圆（如图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5），其中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3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a=3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4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b=4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c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5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c=5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⁠，求图中阴影部分的面积之和。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76170"/>
            <a:ext cx="11274552" cy="340969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逐步解析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26867"/>
            <a:ext cx="11274552" cy="118140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（1）结论②：图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2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的大正方形由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4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个直角三角形（每个面积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den>
                    </m:f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ab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1/2ab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⁠）与两个正方形（面积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b^2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⁠）组成，故面积为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×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den>
                    </m:f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2ab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a^2+b^2+4×1/2ab=a^2+b^2+2ab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⁠。结论③：图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的大正方形由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4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个直角三角形与边长为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c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c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的正方形组成，面积为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c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2ab</m:t>
                    </m:r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c^2+2ab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⁠。两个整体相等，得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0"/>
                        <w:szCs w:val="30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c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0"/>
                            <w:szCs w:val="30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a^2+b^2=c^2</a:t>
                </a:r>
              </mc:Fallback>
            </mc:AlternateContent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（勾股定理的面积验证）。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5.1 拆解题一：勾股拼图与半圆（青浦练习卷 第 27 题，10 分）（续）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33/52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125272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（2）三个半圆面积：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den>
                    </m:f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π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d>
                          <m:d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dPr>
                          <m:e>
                            <m:f>
                              <m:fPr>
                                <m:ctrlPr>
                                  <w:rPr>
                                    <w:rFonts w:ascii="Cambria Math" w:hAnsi="Cambria Math"/>
                                  </w:rPr>
                                </m:ctrlPr>
                              </m:fPr>
                              <m:num>
                                <m:r>
                                  <w:rPr>
                                    <w:rFonts w:ascii="Cambria Math" w:hAnsi="Cambria Math"/>
                                    <w:sz w:val="32"/>
                                    <w:szCs w:val="32"/>
                                    <w:color w:val="1A2230"/>
                                  </w:rPr>
                                  <m:t>b</m:t>
                                </m:r>
                              </m:num>
                              <m:den>
                                <m:r>
                                  <w:rPr>
                                    <w:rFonts w:ascii="Cambria Math" w:hAnsi="Cambria Math"/>
                                    <w:sz w:val="32"/>
                                    <w:szCs w:val="32"/>
                                    <w:color w:val="1A2230"/>
                                  </w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π</m:t>
                        </m:r>
                        <m:sSup>
                          <m:sSup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b</m:t>
                            </m:r>
                          </m:e>
                          <m:sup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2</m:t>
                            </m:r>
                          </m:sup>
                        </m:sSup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8</m:t>
                        </m:r>
                      </m:den>
                    </m:f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S_1=1/2π(b/2)^2=(πb^2)/8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π</m:t>
                        </m:r>
                        <m:sSup>
                          <m:sSup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c</m:t>
                            </m:r>
                          </m:e>
                          <m:sup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2</m:t>
                            </m:r>
                          </m:sup>
                        </m:sSup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8</m:t>
                        </m:r>
                      </m:den>
                    </m:f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S_2=(πc^2)/8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（斜边上的半圆），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π</m:t>
                        </m:r>
                        <m:sSup>
                          <m:sSup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a</m:t>
                            </m:r>
                          </m:e>
                          <m:sup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2</m:t>
                            </m:r>
                          </m:sup>
                        </m:sSup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8</m:t>
                        </m:r>
                      </m:den>
                    </m:f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S_3=(πa^2)/8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⁠。由（1）得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c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a^2+b^2=c^2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⁠，两边同乘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π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8</m:t>
                        </m:r>
                      </m:den>
                    </m:f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π/8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S_1+S_3=S_2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⁠。代入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S_1+S_2+S_3=30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2S_2=30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⁠，即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15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S_2=15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04871"/>
            <a:ext cx="11274552" cy="4602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（3）由（2）知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b>
                    </m:sSub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S_1+S_3=S_2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⁠，阴影面积之和为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den>
                    </m:f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den>
                    </m:f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×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×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S_1+S_3+1/2ab-S_2=1/2ab=1/2×3×4=6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4847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关键突破口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：两个大正方形面积”整体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=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部分”，且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个直角三角形在两个图中是同一批——作差后三角形面积互相抵消。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37863"/>
            <a:ext cx="11274552" cy="8564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D9534F"/>
                </a:solidFill>
                <a:latin typeface="微软雅黑"/>
                <a:ea typeface="微软雅黑"/>
              </a:rPr>
              <a:t>易错点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：半圆面积用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den>
                    </m:f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π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r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1/2πr^2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⁠，半径是直径的一半（别把直径当半径）；第（2）（3）问必须使用（1）的结论，跳过推理直接写结果会失过程分。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5.2 拆解题二：正方形剪裁与立方差（进华中学 第 25 题，10 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34/52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469" y="1042415"/>
            <a:ext cx="1800737" cy="2011680"/>
          </a:xfrm>
          <a:prstGeom prst="rect">
            <a:avLst/>
          </a:prstGeom>
        </p:spPr>
      </p:pic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476" y="1042415"/>
            <a:ext cx="2185276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090671"/>
            <a:ext cx="563727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1100">
                <a:solidFill>
                  <a:srgbClr val="5A6472"/>
                </a:solidFill>
                <a:latin typeface="微软雅黑"/>
                <a:ea typeface="微软雅黑"/>
              </a:rPr>
              <a:t>进华中学 第 25 题图①：正方形剪裁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6" y="3090671"/>
            <a:ext cx="563727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1100">
                <a:solidFill>
                  <a:srgbClr val="5A6472"/>
                </a:solidFill>
                <a:latin typeface="微软雅黑"/>
                <a:ea typeface="微软雅黑"/>
              </a:rPr>
              <a:t>进华中学 第 25 题图②：正方体割去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5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原题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：请完成以下题目：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9671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（1）如图，在边长为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的正方形纸片上剪去一个边长为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&lt;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b&lt;a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⁠）的小正方形，通过不同的方法计算图中阴影部分的面积。方法①______；方法②______。由此可以验证的乘法公式是______。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40655"/>
            <a:ext cx="11274552" cy="102717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（2）类似地，在棱长为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的正方体上割去一个棱长为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&lt;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b&lt;a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⁠）的小正方体（如图），通过不同的方法计算图中余下几何体的体积。方法①______；方法②______。由此可以得某个多项式因式分解的等式是______，并用所学过的知识说明这个等式成立。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2269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（3）结合并使用（2）得到的等式分解因式：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8x^3+y^3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5.2 拆解题二：正方形剪裁与立方差（进华中学 第 25 题，10 分）（续）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35/52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逐步解析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102717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（1）方法①（直接求）：阴影面积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=a^2-b^2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⁠；方法②（拼补求）：把阴影剪拼成宽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(a-b)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⁠、长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的长方形，面积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=(a+b)(a-b)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⁠。两者相等，验证平方差公式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a^2-b^2=(a+b)(a-b)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7695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（2）方法①（直接求）：余下几何体体积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=a^3-b^3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⁠；方法②（分割求）：把余下几何体按剖面分割为三块长方体，体积和为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(a-b)(a^2+ab+b^2)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⁠。得到立方差公式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a^3-b^3=(a-b)(a^2+ab+b^2)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354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说明等式成立：右边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=a^3+a^2b+ab^2-a^2b-ab^2-b^3=a^3-b^3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（中间四项两两抵消）。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58335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（3）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2x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y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8x^3+y^3=(2x)^3+y^3=(2x+y)(4x^2-2xy+y^2)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（立方和公式：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a^3+b^3=(a+b)(a^2-ab+b^2)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⁠，把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8x^3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看作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2x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(2x)^3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7418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关键突破口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：“算两次”——同一个图形/几何体的度量用两种方法表达，令其相等。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42559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D9534F"/>
                </a:solidFill>
                <a:latin typeface="微软雅黑"/>
                <a:ea typeface="微软雅黑"/>
              </a:rPr>
              <a:t>易错点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：立方和公式的中间项符号是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a^2-ab+b^2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⁠），与立方差（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a^2+ab+b^2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⁠）正好相反；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8x^3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的”立方根”是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（别写成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8x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或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4x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5.3 拆解题三：面积与体积恒等式（淞谊实验 第 30 题，要点拆解）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36/52</a:t>
            </a:r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863" y="1042415"/>
            <a:ext cx="5581225" cy="1954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051402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淞谊实验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30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题题图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64914"/>
            <a:ext cx="11274552" cy="1348232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原题结构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（淞谊实验学校第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30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题）：通常，用两种不同的方法计算同一个图形的面积，可以得到一个等式。（1）根据图①写出阴影部分面积所得的等式，并代入求值；（2）两个正方形按图②方式摆放，利用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边长与线段的关系求阴影面积；（3）类似地，用两种方法计算同一几何体的体积——图③由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个正方体和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个长方体拼成一个大正方体，请写出一个恒等式；（4）已知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a+b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的值（原卷给定），利用（3）的恒等式求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a^3+b^3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的值。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5.3 拆解题三：面积与体积恒等式（淞谊实验 第 30 题，要点拆解）（续）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37/52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要点解析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图①验证完全平方和：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a^2+2ab+b^2=(a+b)^2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5583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图③验证立方和展开式：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3a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(a+b)^3=a^3+3a^2b+3ab^2+b^3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（2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个正方体体积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a^3+b^3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⁠，6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个长方体体积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3a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3a^2b+3ab^2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21431"/>
            <a:ext cx="11274552" cy="125272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第（4）问路径：先用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(a+b)^2=a^2+b^2+2ab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求出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f>
                      <m:fPr>
                        <m:ctrlPr>
                          <w:rPr>
                            <w:rFonts w:ascii="Cambria Math" w:hAnsi="Cambria Math"/>
                          </w:rPr>
                        </m:ctrlPr>
                      </m:fPr>
                      <m:num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(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+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  <m:sSup>
                          <m:sSup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)</m:t>
                            </m:r>
                          </m:e>
                          <m:sup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-(</m:t>
                        </m:r>
                        <m:sSup>
                          <m:sSup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a</m:t>
                            </m:r>
                          </m:e>
                          <m:sup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+</m:t>
                        </m:r>
                        <m:sSup>
                          <m:sSupPr>
                            <m:ctrlPr>
                              <w:rPr>
                                <w:rFonts w:ascii="Cambria Math" w:hAnsi="Cambria Math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b</m:t>
                            </m:r>
                          </m:e>
                          <m:sup>
                            <m:r>
                              <w:rPr>
                                <w:rFonts w:ascii="Cambria Math" w:hAnsi="Cambria Math"/>
                                <w:sz w:val="32"/>
                                <w:szCs w:val="32"/>
                                <w:color w:val="1A2230"/>
                              </w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num>
                      <m:den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ab=((a+b)^2-(a^2+b^2))/2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⁠，再代入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(a+b)^3=a^3+b^3+3ab(a+b)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求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a^3+b^3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（答案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9）。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“先求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ab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再整体代入”是这一类压轴题最常用的中间步骤。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5.4 同模式真题题图集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38/52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以下真题与上述拆解同一模式（面积/体积”算两次”→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恒等式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迁移应用），复习时看图回忆解法即可：</a:t>
            </a:r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917" y="1510791"/>
            <a:ext cx="2581117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568191"/>
            <a:ext cx="11274552" cy="31089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1200">
                <a:solidFill>
                  <a:srgbClr val="5A6472"/>
                </a:solidFill>
                <a:latin typeface="微软雅黑"/>
                <a:ea typeface="微软雅黑"/>
              </a:rPr>
              <a:t>金山区卷 第 28 题题图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52823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金山区卷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28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：由两个正方形验证完全平方和公式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求阴影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立体图形验证恒等式并求值（各问答案依次见原卷解析：等式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a^2+2ab+b^2=(a+b)^2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⁠；第（2）①0.5、②20；第（3）322）。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5.4 同模式真题题图集（续）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39/52</a:t>
            </a:r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722" y="1042415"/>
            <a:ext cx="2420232" cy="2011680"/>
          </a:xfrm>
          <a:prstGeom prst="rect">
            <a:avLst/>
          </a:prstGeom>
        </p:spPr>
      </p:pic>
      <p:pic>
        <p:nvPicPr>
          <p:cNvPr id="7" name="Picture 6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775" y="1042415"/>
            <a:ext cx="3224677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090671"/>
            <a:ext cx="563727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1100">
                <a:solidFill>
                  <a:srgbClr val="5A6472"/>
                </a:solidFill>
                <a:latin typeface="微软雅黑"/>
                <a:ea typeface="微软雅黑"/>
              </a:rPr>
              <a:t>川沙新镇卷 第 29 题题图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6" y="3090671"/>
            <a:ext cx="563727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1100">
                <a:solidFill>
                  <a:srgbClr val="5A6472"/>
                </a:solidFill>
                <a:latin typeface="微软雅黑"/>
                <a:ea typeface="微软雅黑"/>
              </a:rPr>
              <a:t>川沙新镇卷 第 29 题题图续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59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川沙新镇卷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29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题（8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分）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：问题一（公式变形求值）→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问题二（两个正方形构造直角三角形，面积和为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7、斜线段长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4，求三角形面积）→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问题三（数轴上构造正方形，面积和为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13，求长方形面积），三问层层递进。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2917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青教院附中第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27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题与青浦练习卷第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27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题为同一道题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（见第六部分”母题”）。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9755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向明江帆卷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28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：面积恒等式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体积恒等式两段式。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6592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宝山区卷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30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题（10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分）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：对称形式恒等式验证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两项应用（无图，纯代数变形）。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5.5 通用三步法与易错位置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40/52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通用三步法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①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识图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：把每个区域用代数式表示（大正方形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⁠、小正方形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(a-b)^2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⁠、每个长方形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663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②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列等式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：同一个图形面积用两种方法各写一次，令其相等；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95015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③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迁移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：把已知条件代入变形公式（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a^2+b^2=(a+b)^2-2ab=(a-b)^2+2ab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4ab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(a+b)^2-(a-b)^2=4ab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⁠）求第三个量。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086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D9534F"/>
                </a:solidFill>
                <a:latin typeface="微软雅黑"/>
                <a:ea typeface="微软雅黑"/>
              </a:rPr>
              <a:t>易错位置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7923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把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(a-b)^2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展开成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a^2-b^2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-2ab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403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阴影部分识别错误（重叠区多算）；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4240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体积恒等式中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a^2+ab+b^2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（立方差）或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3a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3a^2b+3ab^2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（立方和展开）的中间项符号写错；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3719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前问验证出的恒等式没有保留，导致后问重新推导浪费时间。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第六部分 跨卷重复命题”母题”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41/52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以下题目在不同学校的试卷中内容相同或几乎相同，提示命题素材在多校流通——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把这些”母题”练熟，等于一次复习覆盖多校考法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5431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直线分割平面规律题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：青教院附中第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青浦练习卷第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21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题——同一道题（应用问：正方体蛋糕只能竖着切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11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刀，被分成的块数至多为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67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块）。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8447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勾股拼图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+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半圆面积压轴题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：青教院附中第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青浦练习卷第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题——同一道题（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S_1+S_2+S_3=30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求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b>
                      <m:sSubPr>
                        <m:ctrlPr>
                          <w:rPr>
                            <w:rFonts w:ascii="Cambria Math" w:hAnsi="Cambria Math"/>
                          </w:rPr>
                        </m:ctrlPr>
                      </m:sSub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S</m:t>
                        </m:r>
                      </m:e>
                      <m:sub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15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S_2=15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⁠；阴影面积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6），完整拆解见第五部分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5.1。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4295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“明明作业”纠错题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：华理附中第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25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向明江帆卷第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题——同一道题（去括号未变号），完整原题见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3.3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陷阱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4。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4731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看错系数还原题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：进华中学第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曹杨附实第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题——结构相同（数字略有差异），完整拆解见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3.2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拆解二。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568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新定义”平方结构数”题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：淞谊实验第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29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题（智慧数）与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曹杨附实第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28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题（完全数）——框架相似。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8406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备考含义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：多做一套跨校试卷的边际价值高于反复刷同一套题；上述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5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道题值得作为”母题”精练。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第七部分 易错点与陷阱清单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42/52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40969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以下每条均配真题证据（卷名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题号），完整原题见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3.3 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 3.2。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93112"/>
          <a:ext cx="11274549" cy="353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995"/>
                <a:gridCol w="1268672"/>
                <a:gridCol w="2304324"/>
                <a:gridCol w="2718584"/>
                <a:gridCol w="4530974"/>
              </a:tblGrid>
              <a:tr h="268528">
                <a:tc>
                  <a:txBody>
                    <a:bodyPr/>
                    <a:lstStyle/>
                    <a:p>
                      <a:pPr/>
                      <a:r>
                        <a:rPr lang="zh-CN" sz="1128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序号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易错点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典型错误表现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正确方法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题目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4761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完全平方式双解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只写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=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6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k=6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漏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6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-6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中间项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=±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2ab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=±2ab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⁠，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ab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ab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有两解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宝山区卷-16、复旦二附校-18、川沙新镇卷-15、华理附中-17、向明江帆-17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761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去括号不变号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-(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2x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)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-(2x-y)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写成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2x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y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-2x-y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括号前负号，全变号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华理附中-25、向明江帆-26（纠错题）、奉贤区卷-3（添括号判断）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54761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零指数幂底数为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0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(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5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w:rPr>
                                      <w:rFonts w:ascii="Cambria Math" w:hAnsi="Cambria Math"/>
                                      <w:sz w:val="23"/>
                                      <w:szCs w:val="23"/>
                                      <w:color w:val="1A2230"/>
                                    </w:rPr>
                                    <m:t>)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3"/>
                                      <w:szCs w:val="23"/>
                                      <w:color w:val="1A2230"/>
                                    </w:rPr>
                                    <m:t>0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(x-5)^0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直接等于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前提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≠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0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x-5≠0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淞谊实验-12、奉贤区卷-8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761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分式值为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0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忽略分母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只令分子为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0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分子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= 0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且分母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≠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0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≠0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民一中学-7、经纬实验-17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68528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分式方程忘验根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解出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=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2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x=2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直接作答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代回最简公分母检验，增根舍去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青浦练习卷-25（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=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2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x=2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为增根，方程无解）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761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乘方特殊值漏类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只考虑底数为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分底数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1、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1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-1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（偶次幂）、指数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0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三类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民一中学-14（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=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0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x=0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或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4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或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2）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68528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因式分解不彻底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3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w:rPr>
                                      <w:rFonts w:ascii="Cambria Math" w:hAnsi="Cambria Math"/>
                                      <w:sz w:val="23"/>
                                      <w:szCs w:val="23"/>
                                      <w:color w:val="1A2230"/>
                                    </w:rPr>
                                    <m:t>x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3"/>
                                      <w:szCs w:val="23"/>
                                      <w:color w:val="1A2230"/>
                                    </w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12x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=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3x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(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w:rPr>
                                      <w:rFonts w:ascii="Cambria Math" w:hAnsi="Cambria Math"/>
                                      <w:sz w:val="23"/>
                                      <w:szCs w:val="23"/>
                                      <w:color w:val="1A2230"/>
                                    </w:rPr>
                                    <m:t>x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3"/>
                                      <w:szCs w:val="23"/>
                                      <w:color w:val="1A2230"/>
                                    </w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)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3x^3-12x=3x(x^2-4)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就停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每个因式分解到不能再分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金山区卷-12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点睛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761"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多项式次数隐含非零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五次三项式只列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|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+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|=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3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|m+1|=3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加上该项系数</a:t>
                      </a:r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≠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0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≠0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民一中学-17（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=-</m:t>
                              </m:r>
                              <m:r>
                                <w:rPr>
                                  <w:rFonts w:ascii="Cambria Math" w:hAnsi="Cambria Math"/>
                                  <w:sz w:val="23"/>
                                  <w:szCs w:val="23"/>
                                  <w:color w:val="1A2230"/>
                                </w:rPr>
                                <m:t>4</m:t>
                              </m:r>
                            </m:oMath>
                          </a14:m>
                        </mc:Choice>
                        <mc:Fallback>
                          <a:r>
                            <a:rPr lang="zh-CN" sz="1128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m=-4</a:t>
                          </a:r>
                        </mc:Fallback>
                      </mc:AlternateContent>
                      <a:r>
                        <a:rPr lang="zh-CN" sz="1128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⁠）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第七部分 易错点与陷阱清单（续）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43/52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42415"/>
          <a:ext cx="11274551" cy="2837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969"/>
                <a:gridCol w="1812894"/>
                <a:gridCol w="3542116"/>
                <a:gridCol w="2482270"/>
                <a:gridCol w="2984302"/>
              </a:tblGrid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序号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易错点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典型错误表现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正确方法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题目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853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幂的乘方与同底数幂乘法混淆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a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⋅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a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a^3⋅a^2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与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(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a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3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)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(a^3)^2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指数相乘/相加颠倒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口诀：乘法指数加，乘方指数乘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进华中学-2、淞谊实验-2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等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12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处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积的乘方漏系数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Para>
                              <m:oMath xmlns:w="http://schemas.openxmlformats.org/wordprocessingml/2006/main"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4"/>
                                    <w:szCs w:val="24"/>
                                    <w:color w:val="1A2230"/>
                                  </w:rPr>
                                  <m:t>(-</m:t>
                                </m:r>
                                <m:r>
                                  <w:rPr>
                                    <w:rFonts w:ascii="Cambria Math" w:hAnsi="Cambria Math"/>
                                    <w:sz w:val="24"/>
                                    <w:szCs w:val="24"/>
                                    <w:color w:val="1A2230"/>
                                  </w:rPr>
                                  <m:t>2</m:t>
                                </m:r>
                                <m:sSup>
                                  <m:sSupPr>
                                    <m:ctrlPr>
                                      <w:rPr>
                                        <w:rFonts w:ascii="Cambria Math" w:hAnsi="Cambria Math"/>
                                      </w:rPr>
                                    </m:ctrlPr>
                                  </m:sSupPr>
                                  <m:e>
                                    <m:r>
                                      <w:rPr>
                                        <w:rFonts w:ascii="Cambria Math" w:hAnsi="Cambria Math"/>
                                        <w:sz w:val="24"/>
                                        <w:szCs w:val="24"/>
                                        <w:color w:val="1A2230"/>
                                      </w:rPr>
                                      <m:t>a</m:t>
                                    </m:r>
                                  </m:e>
                                  <m:sup>
                                    <m:r>
                                      <w:rPr>
                                        <w:rFonts w:ascii="Cambria Math" w:hAnsi="Cambria Math"/>
                                        <w:sz w:val="24"/>
                                        <w:szCs w:val="24"/>
                                        <w:color w:val="1A2230"/>
                                      </w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w:rPr>
                                        <w:rFonts w:ascii="Cambria Math" w:hAnsi="Cambria Math"/>
                                      </w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w:rPr>
                                        <w:rFonts w:ascii="Cambria Math" w:hAnsi="Cambria Math"/>
                                        <w:sz w:val="24"/>
                                        <w:szCs w:val="24"/>
                                        <w:color w:val="1A2230"/>
                                      </w:rPr>
                                      <m:t>)</m:t>
                                    </m:r>
                                  </m:e>
                                  <m:sup>
                                    <m:r>
                                      <w:rPr>
                                        <w:rFonts w:ascii="Cambria Math" w:hAnsi="Cambria Math"/>
                                        <w:sz w:val="24"/>
                                        <w:szCs w:val="24"/>
                                        <w:color w:val="1A2230"/>
                                      </w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sz w:val="24"/>
                                    <w:szCs w:val="24"/>
                                    <w:color w:val="1A2230"/>
                                  </w:rPr>
                                  <m:t>=-</m:t>
                                </m:r>
                                <m:r>
                                  <w:rPr>
                                    <w:rFonts w:ascii="Cambria Math" w:hAnsi="Cambria Math"/>
                                    <w:sz w:val="24"/>
                                    <w:szCs w:val="24"/>
                                    <w:color w:val="1A2230"/>
                                  </w:rPr>
                                  <m:t>6</m:t>
                                </m:r>
                                <m:sSup>
                                  <m:sSupPr>
                                    <m:ctrlPr>
                                      <w:rPr>
                                        <w:rFonts w:ascii="Cambria Math" w:hAnsi="Cambria Math"/>
                                      </w:rPr>
                                    </m:ctrlPr>
                                  </m:sSupPr>
                                  <m:e>
                                    <m:r>
                                      <w:rPr>
                                        <w:rFonts w:ascii="Cambria Math" w:hAnsi="Cambria Math"/>
                                        <w:sz w:val="24"/>
                                        <w:szCs w:val="24"/>
                                        <w:color w:val="1A2230"/>
                                      </w:rPr>
                                      <m:t>a</m:t>
                                    </m:r>
                                  </m:e>
                                  <m:sup>
                                    <m:r>
                                      <w:rPr>
                                        <w:rFonts w:ascii="Cambria Math" w:hAnsi="Cambria Math"/>
                                        <w:sz w:val="24"/>
                                        <w:szCs w:val="24"/>
                                        <w:color w:val="1A2230"/>
                                      </w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(-2a^2)^3=-6a^6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系数也要乘方：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(-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2</m:t>
                              </m:r>
                              <m:sSup>
                                <m:sSupPr>
                                  <m:ctrlPr>
                                    <w:rPr>
                                      <w:rFonts w:ascii="Cambria Math" w:hAnsi="Cambria Math"/>
                                    </w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)</m:t>
                                  </m:r>
                                </m:e>
                                <m:sup>
                                  <m:r>
                                    <w:rPr>
                                      <w:rFonts w:ascii="Cambria Math" w:hAnsi="Cambria Math"/>
                                      <w:sz w:val="24"/>
                                      <w:szCs w:val="24"/>
                                      <w:color w:val="1A2230"/>
                                    </w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=-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8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(-2)^3=-8</a:t>
                          </a:r>
                        </mc:Fallback>
                      </mc:AlternateContent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川沙新镇卷-3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解析点睛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7853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分类讨论遗漏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加项成完全平方式只写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1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种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分补中间项（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±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±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⁠）与补平方项三类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青教院附中-16、青浦练习卷-16、金山区卷-26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数轴/规律题漏解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数轴动点只答一种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按奇偶/左右位置分类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民一中学-18（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=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19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n=19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或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18）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13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整体代入符号错误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=-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1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a=-1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⁠，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=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2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b=2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代入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3ab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-3ab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出符号错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代入负数加括号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民一中学-20（</a:t>
                      </a:r>
                      <mc:AlternateContent xmlns:mc="http://schemas.openxmlformats.org/markup-compatibility/2006">
                        <mc:Choice xmlns:a14="http://schemas.microsoft.com/office/drawing/2010/main" xmlns:m="http://schemas.openxmlformats.org/officeDocument/2006/math" Requires="a14">
                          <a14:m>
          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×(-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)×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=</m:t>
                              </m:r>
                              <m:r>
                                <w:rPr>
                                  <w:rFonts w:ascii="Cambria Math" w:hAnsi="Cambria Math"/>
                                  <w:sz w:val="24"/>
                                  <w:szCs w:val="24"/>
                                  <w:color w:val="1A2230"/>
                                </w:rPr>
                                <m:t>6</m:t>
                              </m:r>
                            </m:oMath>
                          </a14:m>
                        </mc:Choice>
                        <mc:Fallback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-3×(-1)×2=6</a:t>
                          </a:r>
                        </mc:Fallback>
                      </mc:AlternateContent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⁠）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应用题漏单位/答句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只写算式不写”答”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解答题写完整步骤与答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民一中学-25、川沙新镇卷-27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解析强调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78536"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识图错误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阴影重叠区多算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先标出每块区域的代数式再作差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淞谊实验-30、经纬实验-19、向明江帆-18</a:t>
                      </a:r>
                    </a:p>
                  </a:txBody>
                  <a:tcPr anchor="ctr" marL="54864" marR="54864" marT="18288" marB="18288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 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44/52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以下题目均为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AI 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生成变式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（依据真题改编，非考试原题）。难度：★基础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★★较易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★★★中等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★★★★较难。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511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1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（★★，改编自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青浦练习卷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3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题）因式分解概念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862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下列从左到右的变形中，属于因式分解的是（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1213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A.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a(a+1)=a^2+a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457200" y="305206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B.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a^2-a-2=(a-2)(a+1)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457200" y="3491991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C.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a^2-2a+1=a(a-2)+1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457200" y="393191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D.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(a+2)^2=a^2+4a+4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457200" y="442671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95087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解析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：A、D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是整式乘法；C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右边不是积的形式；B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化为整式的积且分解彻底。验证：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(a-2)(a+1)=a^2-a-2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 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45/52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2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（★★，改编自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川沙新镇卷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3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题）幂运算判断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下列计算正确的是（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943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A.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⋅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a^2⋅a^3=a^6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457200" y="230936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B.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5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(a^3)^2=a^5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457200" y="274929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C.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(-2a^2)^3=-6a^6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457200" y="318922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D.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÷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4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a^6÷a^2=a^4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a≠0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840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52391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解析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：A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应为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5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a^5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（指数相加）；B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应为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（指数相乘）；C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应为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-8a^6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（系数也要乘方，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(-2)^3=-8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 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46/52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3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（★★，改编自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奉贤区卷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22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题）乘法公式简便计算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计算：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2025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2024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×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2026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2025^2-2024×2026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071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9095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解析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：原式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2025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2025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2025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=2025^2-(2025-1)(2025+1)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⁠，用平方差公式展开，得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2025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2025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2025^2-(2025^2-1)=1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0926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4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（★★，改编自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宝山区卷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16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题）完全平方式双解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2277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36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x^2+mx+36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是完全平方式，则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m=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______。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1756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m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12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m=±12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457200" y="491235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解析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36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(x±6)^2=x^2±12x+36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⁠，中间项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±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±12x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两种符号都要取，勿漏负解。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 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47/52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5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（★★★，改编自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华理附中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15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题）不含某项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已知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(x-2)(x+a)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的展开式中不含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的一次项，求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071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2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a=2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457200" y="2445511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解析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：展开得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x^2+(a-2)x-2a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⁠，令一次项系数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a-2=0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a=2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1462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6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（★★，改编自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淞谊实验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12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题）零指数幂条件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2813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0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(a-1)^0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0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(2b+4)^0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都有意义，求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的取值范围。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22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1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a≠1</a:t>
                </a:r>
              </mc:Fallback>
            </mc:AlternateContent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且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≠-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3E6FC9"/>
                      </w:rPr>
                      <m:t>2</m:t>
                    </m:r>
                  </m:oMath>
                </a14:m>
              </mc:Choice>
              <mc:Fallback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b≠-2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457200" y="461771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解析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：零指数幂有意义的条件是底数不为零：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a-1≠0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且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≠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0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2b+4≠0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 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48/52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7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（★★★，改编自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青浦练习卷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18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题）规律探索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65328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用小棒摆树状图：第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个图形需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根，第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7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根，第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3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15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根，……按此规律，第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6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个图形需多少根小棒？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894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答案：127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87319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解析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：第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n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个图形需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n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+</m:t>
                        </m:r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2^(n+1)-1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根（后一个总是前一个的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2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倍加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1），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n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n=6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时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127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2^7-1=127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 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49/52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8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（★★★，改编自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经纬实验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30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题）拼图与完全平方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用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个长为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⁠、宽为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y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&gt;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x&gt;y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⁠）的长方形围成一个大正方形，中间空出一个小正方形。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9585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（1）用两种方法表示中间小正方形的面积，写出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(x+y)^2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(x-y)^2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xy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xy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的等量关系；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578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（2）若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6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x+y=6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xy=8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⁠，求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(x-y)^2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057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8951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（1）大正方形面积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(x+y)^2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等于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4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个长方形面积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4xy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4xy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加中间小正方形面积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(x-y)^2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⁠，即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4xy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(x+y)^2=(x-y)^2+4xy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799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（2）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y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36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(x-y)^2=(x+y)^2-4xy=36-32=4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 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50/52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1739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9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（★★，改编自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金山区卷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12 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题）因式分解综合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4677"/>
            <a:ext cx="11274552" cy="34011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分解因式：（1）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16x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4x^3-16x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⁠；（2）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2</m:t>
                        </m:r>
                      </m:sup>
                    </m:sSup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y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x^2y-2xy+y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4521"/>
            <a:ext cx="11274552" cy="31739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答案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1647"/>
            <a:ext cx="11274552" cy="34011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（1）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16x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4x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)=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4x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4x^3-16x=4x(x^2-4)=4x(x+2)(x-2)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（提公因式后继续用平方差，分解彻底）；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1491"/>
            <a:ext cx="11274552" cy="34011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（2）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2</m:t>
                        </m:r>
                      </m:sup>
                    </m:sSup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2xy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)=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y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x^2y-2xy+y=y(x^2-2x+1)=y(x-1)^2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655"/>
            <a:ext cx="11274552" cy="31739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10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（★★★，改编自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进华中学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16 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题、曹杨附实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17 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题）看错系数还原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7917"/>
            <a:ext cx="11274552" cy="61622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甲把二次三项式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px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q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2x^2+px+q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因式分解时看错了一次项系数，得到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8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2(x-1)(x-8)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⁠；乙看错了常数项，得到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5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2(x-1)(x-5)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⁠。求原多项式并因式分解。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63869"/>
            <a:ext cx="11274552" cy="34011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答案：原式</a:t>
            </a: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3E6FC9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3E6FC9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12x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+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16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=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)(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3E6FC9"/>
                      </w:rPr>
                      <m:t>)</m:t>
                    </m:r>
                  </m:oMath>
                </a14:m>
              </mc:Choice>
              <mc:Fallback>
                <a:r>
                  <a:rPr lang="zh-CN" sz="1376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=2x^2-12x+16=2(x-2)(x-4)</a:t>
                </a:r>
              </mc:Fallback>
            </mc:AlternateContent>
          </a:p>
        </p:txBody>
      </p:sp>
      <p:sp>
        <p:nvSpPr>
          <p:cNvPr id="14" name="TextBox 13"/>
          <p:cNvSpPr txBox="1"/>
          <p:nvPr/>
        </p:nvSpPr>
        <p:spPr>
          <a:xfrm>
            <a:off x="457200" y="5013713"/>
            <a:ext cx="11274552" cy="61622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解析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：看错一次项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甲的结果中常数项正确：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×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×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8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16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2×1×8=16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⁠；看错常数项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乙的结果中一次项系数正确：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×(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5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)=-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12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-2×(1+5)=-12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⁠；二次项系数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2 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两边一致。故原式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12x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16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=2x^2-12x+16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⁠，再因式分解得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(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x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28"/>
                            <w:szCs w:val="28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6x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8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)=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2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x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4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28"/>
                        <w:szCs w:val="28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2(x^2-6x+8)=2(x-2)(x-4)</a:t>
                </a:r>
              </mc:Fallback>
            </mc:AlternateContent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39665"/>
            <a:ext cx="11274552" cy="31739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（方法要点：两条错误信息恰好各留一个”正确的系数”，组合即还原原式，再用十字相乘验证分解。）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 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51/52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11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（★★★★，改编自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奉贤区卷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27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题、淞谊实验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30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题）数形结合综合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（1）在边长为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的正方形一角剪去边长为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的小正方形（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&gt;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a&gt;b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⁠），将剩余部分剪拼成一个长方形。用两种方法表示剩余部分面积，验证等式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a^2-b^2=(a+b)(a-b)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6911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（2）利用（1）的结论：已知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a-b=3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5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ab=5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⁠，求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11703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80079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（1）剩余部分面积直接表示为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a^2-b^2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⁠；剪拼成的长方形长为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⁠、宽为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(a-b)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⁠，面积为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(a+b)(a-b)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⁠。同一个图形面积相等，故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a^2-b^2=(a+b)(a-b)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9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（2）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10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19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a^2+b^2=(a-b)^2+2ab=9+10=19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 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52/52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12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（★★★，改编自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华理附中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25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题、向明江帆卷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 26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题）纠错题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化简：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)-(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(3a-2b)(3a+2b)-(3a-2b)^2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⁠。小明的解答如下：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95855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第一步：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(3a-2b)(3a+2b)-9a^2-12ab+4b^2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5783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第二步：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=9a^2-4b^2-9a^2-12ab+4b^2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75711"/>
            <a:ext cx="11274552" cy="385064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第三步：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12ab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=-12ab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15639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（1）小明从第几步开始出错，原因是什么？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29151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（2）写出正确解答。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97527"/>
            <a:ext cx="11274552" cy="358648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65903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（1）第一步。减去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2b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)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(3a-2b)^2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时，展开式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9a^2-12ab+4b^2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的各项都应变号（相当于去负括号），小明只减了整体却未变号；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81751"/>
            <a:ext cx="11274552" cy="70612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（2）原式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=9a^2-4b^2-(9a^2-12ab+4b^2)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⁠，去括号变号得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9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a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+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9a^2-4b^2-9a^2+12ab-4b^2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⁠，合并同类项得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mc:AlternateContent xmlns:mc="http://schemas.openxmlformats.org/markup-compatibility/2006">
              <mc:Choice xmlns:a14="http://schemas.microsoft.com/office/drawing/2010/main" xmlns:m="http://schemas.openxmlformats.org/officeDocument/2006/math" Requires="a14">
                <a14:m>
                  <m:oMath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el="http://schemas.microsoft.com/office/2019/extlst" xmlns:wp14="http://schemas.microsoft.com/office/word/2010/wordprocessingDrawing" xmlns:wp="http://schemas.openxmlformats.org/drawingml/2006/wordprocessingDrawing" xmlns:wpg="http://schemas.microsoft.com/office/word/2010/wordprocessingGroup" xmlns:wpi="http://schemas.microsoft.com/office/word/2010/wordprocessingInk" xmlns:wps="http://schemas.microsoft.com/office/word/2010/wordprocessingShape" xmlns:o="urn:schemas-microsoft-com:office:office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i="http://schemas.microsoft.com/office/word/2026/wordml/cei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dtfl="http://schemas.microsoft.com/office/word/2024/wordml/sdtformatlock" xmlns:w16se="http://schemas.microsoft.com/office/word/2015/wordml/symex" xmlns:w16du="http://schemas.microsoft.com/office/word/2023/wordml/word16du" xmlns:wne="http://schemas.microsoft.com/office/word/2006/wordml"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12ab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8</m:t>
                    </m:r>
                    <m:sSup>
                      <m:sSupPr>
                        <m:ctrlPr>
                          <w:rPr>
                            <w:rFonts w:ascii="Cambria Math" w:hAnsi="Cambria Math"/>
                          </w:rPr>
                        </m:ctrlPr>
                      </m:sSupPr>
                      <m:e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b</m:t>
                        </m:r>
                      </m:e>
                      <m:sup>
                        <m:r>
                          <w:rPr>
                            <w:rFonts w:ascii="Cambria Math" w:hAnsi="Cambria Math"/>
                            <w:sz w:val="32"/>
                            <w:szCs w:val="32"/>
                            <w:color w:val="1A2230"/>
                          </w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=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4b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(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3a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-</m:t>
                    </m:r>
                    <m: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2b</m:t>
                    </m:r>
                    <m:r>
                      <m:rPr>
                        <m:sty m:val="p"/>
                      </m:rPr>
                      <w:rPr>
                        <w:rFonts w:ascii="Cambria Math" w:hAnsi="Cambria Math"/>
                        <w:sz w:val="32"/>
                        <w:szCs w:val="32"/>
                        <w:color w:val="1A2230"/>
                      </w:rPr>
                      <m:t>)</m:t>
                    </m:r>
                  </m:oMath>
                </a14:m>
              </mc:Choice>
              <mc:Fallback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12ab-8b^2=4b(3a-2b)</a:t>
                </a:r>
              </mc:Fallback>
            </mc:AlternateContent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⁠。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2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